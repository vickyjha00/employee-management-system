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HK Modular" panose="020B0604020202020204" charset="0"/>
      <p:regular r:id="rId14"/>
      <p:bold r:id="rId15"/>
    </p:embeddedFont>
    <p:embeddedFont>
      <p:font typeface="Sansation" panose="020B0604020202020204"/>
      <p:regular r:id="rId16"/>
    </p:embeddedFont>
    <p:embeddedFont>
      <p:font typeface="เอฟซี ฟาสท์เทสท์" panose="020B0604020202020204" charset="-3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620" autoAdjust="0"/>
  </p:normalViewPr>
  <p:slideViewPr>
    <p:cSldViewPr>
      <p:cViewPr varScale="1">
        <p:scale>
          <a:sx n="50" d="100"/>
          <a:sy n="50" d="100"/>
        </p:scale>
        <p:origin x="7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530206" y="6079033"/>
            <a:ext cx="11227589" cy="66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ADMIN MANAGEMENT PORTAL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30206" y="3953879"/>
            <a:ext cx="11227589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199"/>
              </a:lnSpc>
              <a:spcBef>
                <a:spcPct val="0"/>
              </a:spcBef>
            </a:pPr>
            <a:r>
              <a:rPr lang="en-US" sz="13499" spc="404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THRYLOS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086100" y="4090496"/>
            <a:ext cx="5673622" cy="780956"/>
            <a:chOff x="0" y="0"/>
            <a:chExt cx="1494287" cy="2056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94287" cy="205684"/>
            </a:xfrm>
            <a:custGeom>
              <a:avLst/>
              <a:gdLst/>
              <a:ahLst/>
              <a:cxnLst/>
              <a:rect l="l" t="t" r="r" b="b"/>
              <a:pathLst>
                <a:path w="1494287" h="205684">
                  <a:moveTo>
                    <a:pt x="0" y="0"/>
                  </a:moveTo>
                  <a:lnTo>
                    <a:pt x="1494287" y="0"/>
                  </a:lnTo>
                  <a:lnTo>
                    <a:pt x="1494287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94287" cy="243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60669" y="4081017"/>
            <a:ext cx="4924485" cy="68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2"/>
              </a:lnSpc>
              <a:spcBef>
                <a:spcPct val="0"/>
              </a:spcBef>
            </a:pPr>
            <a:r>
              <a:rPr lang="en-US" sz="3754" spc="112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ISHAN JHA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43044" y="1438801"/>
            <a:ext cx="974436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30"/>
              </a:lnSpc>
              <a:spcBef>
                <a:spcPct val="0"/>
              </a:spcBef>
            </a:pPr>
            <a:r>
              <a:rPr lang="en-US" sz="7608" spc="228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OUR TEAM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086100" y="5401726"/>
            <a:ext cx="5673622" cy="780956"/>
            <a:chOff x="0" y="0"/>
            <a:chExt cx="1494287" cy="2056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4287" cy="205684"/>
            </a:xfrm>
            <a:custGeom>
              <a:avLst/>
              <a:gdLst/>
              <a:ahLst/>
              <a:cxnLst/>
              <a:rect l="l" t="t" r="r" b="b"/>
              <a:pathLst>
                <a:path w="1494287" h="205684">
                  <a:moveTo>
                    <a:pt x="0" y="0"/>
                  </a:moveTo>
                  <a:lnTo>
                    <a:pt x="1494287" y="0"/>
                  </a:lnTo>
                  <a:lnTo>
                    <a:pt x="1494287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94287" cy="243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578276" y="5392248"/>
            <a:ext cx="4689269" cy="68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2"/>
              </a:lnSpc>
              <a:spcBef>
                <a:spcPct val="0"/>
              </a:spcBef>
            </a:pPr>
            <a:r>
              <a:rPr lang="en-US" sz="3754" spc="112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UTSAV RATAN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086100" y="6712957"/>
            <a:ext cx="5673622" cy="780956"/>
            <a:chOff x="0" y="0"/>
            <a:chExt cx="1494287" cy="2056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94287" cy="205684"/>
            </a:xfrm>
            <a:custGeom>
              <a:avLst/>
              <a:gdLst/>
              <a:ahLst/>
              <a:cxnLst/>
              <a:rect l="l" t="t" r="r" b="b"/>
              <a:pathLst>
                <a:path w="1494287" h="205684">
                  <a:moveTo>
                    <a:pt x="0" y="0"/>
                  </a:moveTo>
                  <a:lnTo>
                    <a:pt x="1494287" y="0"/>
                  </a:lnTo>
                  <a:lnTo>
                    <a:pt x="1494287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94287" cy="243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578276" y="6703479"/>
            <a:ext cx="4689269" cy="68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2"/>
              </a:lnSpc>
              <a:spcBef>
                <a:spcPct val="0"/>
              </a:spcBef>
            </a:pPr>
            <a:r>
              <a:rPr lang="en-US" sz="3754" spc="112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PREM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792560" y="4090496"/>
            <a:ext cx="5673622" cy="780956"/>
            <a:chOff x="0" y="0"/>
            <a:chExt cx="1494287" cy="2056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94287" cy="205684"/>
            </a:xfrm>
            <a:custGeom>
              <a:avLst/>
              <a:gdLst/>
              <a:ahLst/>
              <a:cxnLst/>
              <a:rect l="l" t="t" r="r" b="b"/>
              <a:pathLst>
                <a:path w="1494287" h="205684">
                  <a:moveTo>
                    <a:pt x="0" y="0"/>
                  </a:moveTo>
                  <a:lnTo>
                    <a:pt x="1494287" y="0"/>
                  </a:lnTo>
                  <a:lnTo>
                    <a:pt x="1494287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494287" cy="243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167129" y="4081017"/>
            <a:ext cx="4924485" cy="68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2"/>
              </a:lnSpc>
              <a:spcBef>
                <a:spcPct val="0"/>
              </a:spcBef>
            </a:pPr>
            <a:r>
              <a:rPr lang="en-US" sz="3754" spc="112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RASHMI JHA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792560" y="5401726"/>
            <a:ext cx="5673622" cy="780956"/>
            <a:chOff x="0" y="0"/>
            <a:chExt cx="1494287" cy="2056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94287" cy="205684"/>
            </a:xfrm>
            <a:custGeom>
              <a:avLst/>
              <a:gdLst/>
              <a:ahLst/>
              <a:cxnLst/>
              <a:rect l="l" t="t" r="r" b="b"/>
              <a:pathLst>
                <a:path w="1494287" h="205684">
                  <a:moveTo>
                    <a:pt x="0" y="0"/>
                  </a:moveTo>
                  <a:lnTo>
                    <a:pt x="1494287" y="0"/>
                  </a:lnTo>
                  <a:lnTo>
                    <a:pt x="1494287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494287" cy="243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84737" y="5392248"/>
            <a:ext cx="4689269" cy="68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2"/>
              </a:lnSpc>
              <a:spcBef>
                <a:spcPct val="0"/>
              </a:spcBef>
            </a:pPr>
            <a:r>
              <a:rPr lang="en-US" sz="3754" spc="112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VICKY JHA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92560" y="6712957"/>
            <a:ext cx="5673622" cy="780956"/>
            <a:chOff x="0" y="0"/>
            <a:chExt cx="1494287" cy="20568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94287" cy="205684"/>
            </a:xfrm>
            <a:custGeom>
              <a:avLst/>
              <a:gdLst/>
              <a:ahLst/>
              <a:cxnLst/>
              <a:rect l="l" t="t" r="r" b="b"/>
              <a:pathLst>
                <a:path w="1494287" h="205684">
                  <a:moveTo>
                    <a:pt x="0" y="0"/>
                  </a:moveTo>
                  <a:lnTo>
                    <a:pt x="1494287" y="0"/>
                  </a:lnTo>
                  <a:lnTo>
                    <a:pt x="1494287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494287" cy="243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284737" y="6703479"/>
            <a:ext cx="4689269" cy="68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2"/>
              </a:lnSpc>
              <a:spcBef>
                <a:spcPct val="0"/>
              </a:spcBef>
            </a:pPr>
            <a:r>
              <a:rPr lang="en-US" sz="3754" spc="112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VIVEK RAI</a:t>
            </a:r>
          </a:p>
        </p:txBody>
      </p:sp>
      <p:sp>
        <p:nvSpPr>
          <p:cNvPr id="31" name="Freeform 31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3086100" y="7985629"/>
            <a:ext cx="12380083" cy="780956"/>
            <a:chOff x="0" y="0"/>
            <a:chExt cx="3260598" cy="2056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260598" cy="205684"/>
            </a:xfrm>
            <a:custGeom>
              <a:avLst/>
              <a:gdLst/>
              <a:ahLst/>
              <a:cxnLst/>
              <a:rect l="l" t="t" r="r" b="b"/>
              <a:pathLst>
                <a:path w="3260598" h="205684">
                  <a:moveTo>
                    <a:pt x="0" y="0"/>
                  </a:moveTo>
                  <a:lnTo>
                    <a:pt x="3260598" y="0"/>
                  </a:lnTo>
                  <a:lnTo>
                    <a:pt x="3260598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260598" cy="243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012496" y="8040921"/>
            <a:ext cx="12527290" cy="57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32"/>
              </a:lnSpc>
              <a:spcBef>
                <a:spcPct val="0"/>
              </a:spcBef>
            </a:pPr>
            <a:r>
              <a:rPr lang="en-US" sz="3154" spc="94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FACULTY MENTOR : SUMAN KUMAR DAS SIR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271817" y="3001426"/>
            <a:ext cx="9744367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0"/>
              </a:lnSpc>
            </a:pPr>
            <a:r>
              <a:rPr lang="en-US" sz="4608" spc="13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HK Modular"/>
                <a:ea typeface="HK Modular"/>
                <a:cs typeface="HK Modular"/>
                <a:sym typeface="HK Modular"/>
              </a:rPr>
              <a:t>THRYLOS ( 26E2109 )</a:t>
            </a:r>
          </a:p>
          <a:p>
            <a:pPr marL="0" lvl="0" indent="0" algn="ctr">
              <a:lnSpc>
                <a:spcPts val="8410"/>
              </a:lnSpc>
              <a:spcBef>
                <a:spcPct val="0"/>
              </a:spcBef>
            </a:pPr>
            <a:endParaRPr lang="en-US" sz="4608" spc="138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atin typeface="HK Modular"/>
              <a:ea typeface="HK Modular"/>
              <a:cs typeface="HK Modular"/>
              <a:sym typeface="HK Mod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028935" y="3646592"/>
            <a:ext cx="12230130" cy="524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954" spc="88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Thrylos Admin Management Portal is a comprehensive web-based administrative system developed to manage and streamline operations of the Thrylos esports and organizational ecosystem.</a:t>
            </a:r>
          </a:p>
          <a:p>
            <a:pPr algn="l">
              <a:lnSpc>
                <a:spcPts val="4432"/>
              </a:lnSpc>
            </a:pPr>
            <a:endParaRPr lang="en-US" sz="2954" spc="88">
              <a:solidFill>
                <a:srgbClr val="D9D9D9"/>
              </a:solidFill>
              <a:latin typeface="Sansation"/>
              <a:ea typeface="Sansation"/>
              <a:cs typeface="Sansation"/>
              <a:sym typeface="Sansation"/>
            </a:endParaRPr>
          </a:p>
          <a:p>
            <a:pPr algn="l">
              <a:lnSpc>
                <a:spcPts val="1582"/>
              </a:lnSpc>
            </a:pPr>
            <a:endParaRPr lang="en-US" sz="2954" spc="88">
              <a:solidFill>
                <a:srgbClr val="D9D9D9"/>
              </a:solidFill>
              <a:latin typeface="Sansation"/>
              <a:ea typeface="Sansation"/>
              <a:cs typeface="Sansation"/>
              <a:sym typeface="Sansation"/>
            </a:endParaRPr>
          </a:p>
          <a:p>
            <a:pPr marL="0" lvl="0" indent="0" algn="l">
              <a:lnSpc>
                <a:spcPts val="4432"/>
              </a:lnSpc>
              <a:spcBef>
                <a:spcPct val="0"/>
              </a:spcBef>
            </a:pPr>
            <a:r>
              <a:rPr lang="en-US" sz="2954" spc="88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The platform enables Super Admins and Admins to manage tournaments, employees, internships, analytics, attendance, payments, certifications, content work, and system logs from a centralized dashboard.</a:t>
            </a:r>
          </a:p>
          <a:p>
            <a:pPr marL="0" lvl="0" indent="0" algn="l">
              <a:lnSpc>
                <a:spcPts val="4432"/>
              </a:lnSpc>
              <a:spcBef>
                <a:spcPct val="0"/>
              </a:spcBef>
            </a:pPr>
            <a:endParaRPr lang="en-US" sz="2954" spc="88">
              <a:solidFill>
                <a:srgbClr val="D9D9D9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66942" y="1843036"/>
            <a:ext cx="1155411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90"/>
              </a:lnSpc>
              <a:spcBef>
                <a:spcPct val="0"/>
              </a:spcBef>
            </a:pPr>
            <a:r>
              <a:rPr lang="en-US" sz="7408" spc="222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INTRODUCTION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343268" y="3140444"/>
            <a:ext cx="394647" cy="39464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66942" y="1516531"/>
            <a:ext cx="1155411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90"/>
              </a:lnSpc>
              <a:spcBef>
                <a:spcPct val="0"/>
              </a:spcBef>
            </a:pPr>
            <a:r>
              <a:rPr lang="en-US" sz="7408" spc="222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OBJECTIVES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343268" y="4100148"/>
            <a:ext cx="394647" cy="39464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3343268" y="5056771"/>
            <a:ext cx="394647" cy="39464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43268" y="6013393"/>
            <a:ext cx="394647" cy="39464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43268" y="6970015"/>
            <a:ext cx="394647" cy="39464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43268" y="7926637"/>
            <a:ext cx="394647" cy="39464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300589" y="3033062"/>
            <a:ext cx="11308632" cy="5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2"/>
              </a:lnSpc>
              <a:spcBef>
                <a:spcPct val="0"/>
              </a:spcBef>
            </a:pPr>
            <a:r>
              <a:rPr lang="en-US" sz="2754" spc="8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To design a centralized admin dashboard for Thrylos.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00589" y="3992766"/>
            <a:ext cx="11308632" cy="5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2"/>
              </a:lnSpc>
              <a:spcBef>
                <a:spcPct val="0"/>
              </a:spcBef>
            </a:pPr>
            <a:r>
              <a:rPr lang="en-US" sz="2754" spc="8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To implement role-based authentication (Super Admin, Admin)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00589" y="7819255"/>
            <a:ext cx="11308632" cy="5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2"/>
              </a:lnSpc>
              <a:spcBef>
                <a:spcPct val="0"/>
              </a:spcBef>
            </a:pPr>
            <a:r>
              <a:rPr lang="en-US" sz="2754" spc="8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To develop an internship and employee tracking system.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00589" y="6862633"/>
            <a:ext cx="11308632" cy="5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2"/>
              </a:lnSpc>
              <a:spcBef>
                <a:spcPct val="0"/>
              </a:spcBef>
            </a:pPr>
            <a:r>
              <a:rPr lang="en-US" sz="2754" spc="8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To integrate analytics and reporting systems.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00589" y="5918143"/>
            <a:ext cx="11308632" cy="5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2"/>
              </a:lnSpc>
              <a:spcBef>
                <a:spcPct val="0"/>
              </a:spcBef>
            </a:pPr>
            <a:r>
              <a:rPr lang="en-US" sz="2754" spc="8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To implement audit logging and activity tracking.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00589" y="4949389"/>
            <a:ext cx="11308632" cy="5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2"/>
              </a:lnSpc>
              <a:spcBef>
                <a:spcPct val="0"/>
              </a:spcBef>
            </a:pPr>
            <a:r>
              <a:rPr lang="en-US" sz="2754" spc="8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To manage esports players, tournaments, and revenue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888776" y="3844972"/>
            <a:ext cx="394647" cy="39464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88776" y="4737729"/>
            <a:ext cx="394647" cy="39464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56211" y="3682345"/>
            <a:ext cx="5048272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Dashboard &amp; Analytics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66942" y="1738312"/>
            <a:ext cx="1155411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90"/>
              </a:lnSpc>
              <a:spcBef>
                <a:spcPct val="0"/>
              </a:spcBef>
            </a:pPr>
            <a:r>
              <a:rPr lang="en-US" sz="7408" spc="222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KEY FEATURES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556211" y="4575101"/>
            <a:ext cx="5923152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Role-Based Access Control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888776" y="5629081"/>
            <a:ext cx="394647" cy="39464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556211" y="5466453"/>
            <a:ext cx="5048272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Players Management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888776" y="6520433"/>
            <a:ext cx="394647" cy="39464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556211" y="6357805"/>
            <a:ext cx="5048272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Payment &amp; Verification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717487" y="3902825"/>
            <a:ext cx="394647" cy="39464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17487" y="4795581"/>
            <a:ext cx="394647" cy="394647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384922" y="3740197"/>
            <a:ext cx="5048272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Certificate Management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84922" y="4632954"/>
            <a:ext cx="5048272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Real-Time Modules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717487" y="5686933"/>
            <a:ext cx="394647" cy="394647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384922" y="5524306"/>
            <a:ext cx="5048272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System Control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717487" y="6578285"/>
            <a:ext cx="394647" cy="394647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388360" y="6415658"/>
            <a:ext cx="7105672" cy="125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Employee &amp; Internship Management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927885" y="7411784"/>
            <a:ext cx="394647" cy="39464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3556211" y="7249157"/>
            <a:ext cx="5375614" cy="6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Secure OTP Based 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366942" y="1345435"/>
            <a:ext cx="11554117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608" spc="198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PROJECT USE CASE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CDCBD6F-BE47-5DAE-6686-0B20CFBE1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926340"/>
              </p:ext>
            </p:extLst>
          </p:nvPr>
        </p:nvGraphicFramePr>
        <p:xfrm>
          <a:off x="2286000" y="2555057"/>
          <a:ext cx="13068300" cy="6386506"/>
        </p:xfrm>
        <a:graphic>
          <a:graphicData uri="http://schemas.openxmlformats.org/drawingml/2006/table">
            <a:tbl>
              <a:tblPr/>
              <a:tblGrid>
                <a:gridCol w="4356100">
                  <a:extLst>
                    <a:ext uri="{9D8B030D-6E8A-4147-A177-3AD203B41FA5}">
                      <a16:colId xmlns:a16="http://schemas.microsoft.com/office/drawing/2014/main" val="2292988495"/>
                    </a:ext>
                  </a:extLst>
                </a:gridCol>
                <a:gridCol w="4356100">
                  <a:extLst>
                    <a:ext uri="{9D8B030D-6E8A-4147-A177-3AD203B41FA5}">
                      <a16:colId xmlns:a16="http://schemas.microsoft.com/office/drawing/2014/main" val="3638716250"/>
                    </a:ext>
                  </a:extLst>
                </a:gridCol>
                <a:gridCol w="4356100">
                  <a:extLst>
                    <a:ext uri="{9D8B030D-6E8A-4147-A177-3AD203B41FA5}">
                      <a16:colId xmlns:a16="http://schemas.microsoft.com/office/drawing/2014/main" val="2350800547"/>
                    </a:ext>
                  </a:extLst>
                </a:gridCol>
              </a:tblGrid>
              <a:tr h="8310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</a:rPr>
                        <a:t>Role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Main Function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</a:rPr>
                        <a:t>Primary Modules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63370"/>
                  </a:ext>
                </a:extLst>
              </a:tr>
              <a:tr h="8310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Super Admin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System Control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All Modules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49882"/>
                  </a:ext>
                </a:extLst>
              </a:tr>
              <a:tr h="889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Tech Admin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Technical Operations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effectLst/>
                        </a:rPr>
                        <a:t>Tech Dashboard, Logs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23740"/>
                  </a:ext>
                </a:extLst>
              </a:tr>
              <a:tr h="889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HR Admin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Workforce Management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Attendance, Leave, Internships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92985"/>
                  </a:ext>
                </a:extLst>
              </a:tr>
              <a:tr h="1164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Esports Admin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Tournament &amp; Player Management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Esports Dashboard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025344"/>
                  </a:ext>
                </a:extLst>
              </a:tr>
              <a:tr h="889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Content Admin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Media &amp; Content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Content Dashboard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571504"/>
                  </a:ext>
                </a:extLst>
              </a:tr>
              <a:tr h="889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Social Admin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Social Growth &amp; Analytics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effectLst/>
                        </a:rPr>
                        <a:t>Social Analytics</a:t>
                      </a:r>
                    </a:p>
                  </a:txBody>
                  <a:tcPr marL="66735" marR="66735" marT="33367" marB="3336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695559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4DD0F239-5A9C-8F7B-419D-B4F8ED7FD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106" y="2555057"/>
            <a:ext cx="39791631" cy="49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90251" y="872140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2989" y="9381621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700361" y="1264444"/>
            <a:ext cx="1288727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70"/>
              </a:lnSpc>
              <a:spcBef>
                <a:spcPct val="0"/>
              </a:spcBef>
            </a:pPr>
            <a:r>
              <a:rPr lang="en-US" sz="5808" spc="174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SYSTEM ARCHITECTURE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FC57BF-9331-91CD-6C67-876AA104B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614085"/>
              </p:ext>
            </p:extLst>
          </p:nvPr>
        </p:nvGraphicFramePr>
        <p:xfrm>
          <a:off x="2152650" y="2414526"/>
          <a:ext cx="13944600" cy="6695596"/>
        </p:xfrm>
        <a:graphic>
          <a:graphicData uri="http://schemas.openxmlformats.org/drawingml/2006/table">
            <a:tbl>
              <a:tblPr/>
              <a:tblGrid>
                <a:gridCol w="4648200">
                  <a:extLst>
                    <a:ext uri="{9D8B030D-6E8A-4147-A177-3AD203B41FA5}">
                      <a16:colId xmlns:a16="http://schemas.microsoft.com/office/drawing/2014/main" val="345866135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12006841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89060378"/>
                    </a:ext>
                  </a:extLst>
                </a:gridCol>
              </a:tblGrid>
              <a:tr h="3937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</a:rPr>
                        <a:t>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98981"/>
                  </a:ext>
                </a:extLst>
              </a:tr>
              <a:tr h="1033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Client 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Web Application (React + TypeScript)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Provides the admin dashboard interface for all roles including Super Admin, Tech Admin, HR Admin, Esports Admin and all admins.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95478"/>
                  </a:ext>
                </a:extLst>
              </a:tr>
              <a:tr h="705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Communication 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HTTP / HTTPS API Requests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Enables secure communication between frontend and backend using RESTful APIs.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322223"/>
                  </a:ext>
                </a:extLst>
              </a:tr>
              <a:tr h="705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Application 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Backend Server (Node.js + Express)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Handles business logic, request processing, data validation, and module control.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578663"/>
                  </a:ext>
                </a:extLst>
              </a:tr>
              <a:tr h="705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Authentication &amp; Security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JWT Authentication + Role-Based Middleware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Verifies user identity and restricts access based on assigned roles (RBAC system).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30106"/>
                  </a:ext>
                </a:extLst>
              </a:tr>
              <a:tr h="8695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Database 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Supabase (PostgreSQL)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Stores users, admin roles, esports data, employee records, attendance, payments, analytics, and audit logs.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88905"/>
                  </a:ext>
                </a:extLst>
              </a:tr>
              <a:tr h="705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Real-Time 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Supabase Realtime / WebSockets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Enables live updates for notifications, chat, and dashboard activity tracking.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75286"/>
                  </a:ext>
                </a:extLst>
              </a:tr>
              <a:tr h="705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Storage 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Cloud Storage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Stores uploaded files, certificates, posters, media content, and documents.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96399"/>
                  </a:ext>
                </a:extLst>
              </a:tr>
              <a:tr h="8695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Analytics Layer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Reporting &amp; Data Processing Engine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Generates revenue reports, growth statistics, engagement tracking, and performance analytics.</a:t>
                      </a:r>
                    </a:p>
                  </a:txBody>
                  <a:tcPr marL="38477" marR="38477" marT="19238" marB="192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27268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62DA219A-1A06-EF0E-B879-BF94625A4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699" y="2281694"/>
            <a:ext cx="732402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704301" y="1363880"/>
            <a:ext cx="1255108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10"/>
              </a:lnSpc>
              <a:spcBef>
                <a:spcPct val="0"/>
              </a:spcBef>
            </a:pPr>
            <a:r>
              <a:rPr lang="en-US" sz="6508" spc="195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DATA &amp; RESOURCE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AA0396-9436-88A9-BD6C-65E66149E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48067"/>
              </p:ext>
            </p:extLst>
          </p:nvPr>
        </p:nvGraphicFramePr>
        <p:xfrm>
          <a:off x="3704301" y="3089562"/>
          <a:ext cx="10559598" cy="5512925"/>
        </p:xfrm>
        <a:graphic>
          <a:graphicData uri="http://schemas.openxmlformats.org/drawingml/2006/table">
            <a:tbl>
              <a:tblPr/>
              <a:tblGrid>
                <a:gridCol w="5279799">
                  <a:extLst>
                    <a:ext uri="{9D8B030D-6E8A-4147-A177-3AD203B41FA5}">
                      <a16:colId xmlns:a16="http://schemas.microsoft.com/office/drawing/2014/main" val="3912359752"/>
                    </a:ext>
                  </a:extLst>
                </a:gridCol>
                <a:gridCol w="5279799">
                  <a:extLst>
                    <a:ext uri="{9D8B030D-6E8A-4147-A177-3AD203B41FA5}">
                      <a16:colId xmlns:a16="http://schemas.microsoft.com/office/drawing/2014/main" val="1608814870"/>
                    </a:ext>
                  </a:extLst>
                </a:gridCol>
              </a:tblGrid>
              <a:tr h="1102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1">
                          <a:solidFill>
                            <a:srgbClr val="FFFFFF"/>
                          </a:solidFill>
                          <a:effectLst/>
                        </a:rPr>
                        <a:t>Category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effectLst/>
                        </a:rPr>
                        <a:t>Used In Project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1969"/>
                  </a:ext>
                </a:extLst>
              </a:tr>
              <a:tr h="1102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User Data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effectLst/>
                        </a:rPr>
                        <a:t>Admin roles, employees, interns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487178"/>
                  </a:ext>
                </a:extLst>
              </a:tr>
              <a:tr h="1102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Database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effectLst/>
                        </a:rPr>
                        <a:t>Supabase (PostgreSQL)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220624"/>
                  </a:ext>
                </a:extLst>
              </a:tr>
              <a:tr h="1102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Frontend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effectLst/>
                        </a:rPr>
                        <a:t>React + TypeScript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548499"/>
                  </a:ext>
                </a:extLst>
              </a:tr>
              <a:tr h="1102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Backend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effectLst/>
                        </a:rPr>
                        <a:t>Node.js + Express</a:t>
                      </a:r>
                    </a:p>
                  </a:txBody>
                  <a:tcPr marL="66696" marR="66696" marT="33348" marB="3334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64782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83C38CCE-7234-4C0F-42C4-B75B13E8B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70" y="3089562"/>
            <a:ext cx="3217138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772378" y="2838324"/>
            <a:ext cx="14766147" cy="5377318"/>
          </a:xfrm>
          <a:custGeom>
            <a:avLst/>
            <a:gdLst/>
            <a:ahLst/>
            <a:cxnLst/>
            <a:rect l="l" t="t" r="r" b="b"/>
            <a:pathLst>
              <a:path w="14766147" h="5377318">
                <a:moveTo>
                  <a:pt x="0" y="0"/>
                </a:moveTo>
                <a:lnTo>
                  <a:pt x="14766147" y="0"/>
                </a:lnTo>
                <a:lnTo>
                  <a:pt x="14766147" y="5377319"/>
                </a:lnTo>
                <a:lnTo>
                  <a:pt x="0" y="53773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2391" b="-305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366942" y="1371537"/>
            <a:ext cx="1155411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90"/>
              </a:lnSpc>
              <a:spcBef>
                <a:spcPct val="0"/>
              </a:spcBef>
            </a:pPr>
            <a:r>
              <a:rPr lang="en-US" sz="7408" spc="222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METHODOLOGY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4439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629394" y="1471561"/>
            <a:ext cx="13731801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1"/>
              </a:lnSpc>
              <a:spcBef>
                <a:spcPct val="0"/>
              </a:spcBef>
            </a:pPr>
            <a:r>
              <a:rPr lang="en-US" sz="4901" spc="147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EXPECTED RESULTS  &amp; IMPACT</a:t>
            </a:r>
          </a:p>
        </p:txBody>
      </p:sp>
      <p:sp>
        <p:nvSpPr>
          <p:cNvPr id="7" name="Freeform 7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-1935575" y="2877623"/>
            <a:ext cx="13731801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1"/>
              </a:lnSpc>
              <a:spcBef>
                <a:spcPct val="0"/>
              </a:spcBef>
            </a:pPr>
            <a:r>
              <a:rPr lang="en-US" sz="4901" u="sng" spc="147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67498" y="2877623"/>
            <a:ext cx="13731801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1"/>
              </a:lnSpc>
              <a:spcBef>
                <a:spcPct val="0"/>
              </a:spcBef>
            </a:pPr>
            <a:r>
              <a:rPr lang="en-US" sz="4901" u="sng" spc="147">
                <a:solidFill>
                  <a:srgbClr val="D9D9D9"/>
                </a:solidFill>
                <a:latin typeface="เอฟซี ฟาสท์เทสท์"/>
                <a:ea typeface="เอฟซี ฟาสท์เทสท์"/>
                <a:cs typeface="เอฟซี ฟาสท์เทสท์"/>
                <a:sym typeface="เอฟซี ฟาสท์เทสท์"/>
              </a:rPr>
              <a:t>IMPACTS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741204" y="2768969"/>
            <a:ext cx="0" cy="567499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86065" y="4102658"/>
            <a:ext cx="6906316" cy="454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305" lvl="1" indent="-334153" algn="l">
              <a:lnSpc>
                <a:spcPts val="4643"/>
              </a:lnSpc>
              <a:buFont typeface="Arial"/>
              <a:buChar char="•"/>
            </a:pPr>
            <a:r>
              <a:rPr lang="en-US" sz="3095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Fully functional admin control system</a:t>
            </a:r>
          </a:p>
          <a:p>
            <a:pPr marL="668305" lvl="1" indent="-334153" algn="l">
              <a:lnSpc>
                <a:spcPts val="4643"/>
              </a:lnSpc>
              <a:buFont typeface="Arial"/>
              <a:buChar char="•"/>
            </a:pPr>
            <a:r>
              <a:rPr lang="en-US" sz="3095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Real-time analytics dashboard</a:t>
            </a:r>
          </a:p>
          <a:p>
            <a:pPr marL="668305" lvl="1" indent="-334153" algn="l">
              <a:lnSpc>
                <a:spcPts val="4643"/>
              </a:lnSpc>
              <a:buFont typeface="Arial"/>
              <a:buChar char="•"/>
            </a:pPr>
            <a:r>
              <a:rPr lang="en-US" sz="3095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Improved operational efficiency</a:t>
            </a:r>
          </a:p>
          <a:p>
            <a:pPr marL="668305" lvl="1" indent="-334153" algn="l">
              <a:lnSpc>
                <a:spcPts val="4643"/>
              </a:lnSpc>
              <a:buFont typeface="Arial"/>
              <a:buChar char="•"/>
            </a:pPr>
            <a:r>
              <a:rPr lang="en-US" sz="3095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Reduced manual record keeping</a:t>
            </a:r>
          </a:p>
          <a:p>
            <a:pPr marL="668305" lvl="1" indent="-334153" algn="l">
              <a:lnSpc>
                <a:spcPts val="4643"/>
              </a:lnSpc>
              <a:buFont typeface="Arial"/>
              <a:buChar char="•"/>
            </a:pPr>
            <a:r>
              <a:rPr lang="en-US" sz="3095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Structured esports and HR management</a:t>
            </a:r>
          </a:p>
          <a:p>
            <a:pPr marL="0" lvl="0" indent="0" algn="l">
              <a:lnSpc>
                <a:spcPts val="3386"/>
              </a:lnSpc>
              <a:spcBef>
                <a:spcPct val="0"/>
              </a:spcBef>
            </a:pPr>
            <a:endParaRPr lang="en-US" sz="3095" spc="92">
              <a:solidFill>
                <a:srgbClr val="D9D9D9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44000" y="4093133"/>
            <a:ext cx="7729589" cy="455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951" lvl="1" indent="-331476" algn="l">
              <a:lnSpc>
                <a:spcPts val="4605"/>
              </a:lnSpc>
              <a:buFont typeface="Arial"/>
              <a:buChar char="•"/>
            </a:pPr>
            <a:r>
              <a:rPr lang="en-US" sz="3070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Enables scalable esports management</a:t>
            </a:r>
          </a:p>
          <a:p>
            <a:pPr marL="662951" lvl="1" indent="-331476" algn="l">
              <a:lnSpc>
                <a:spcPts val="4605"/>
              </a:lnSpc>
              <a:buFont typeface="Arial"/>
              <a:buChar char="•"/>
            </a:pPr>
            <a:r>
              <a:rPr lang="en-US" sz="3070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Improves team productivity tracking</a:t>
            </a:r>
          </a:p>
          <a:p>
            <a:pPr marL="662951" lvl="1" indent="-331476" algn="l">
              <a:lnSpc>
                <a:spcPts val="4605"/>
              </a:lnSpc>
              <a:buFont typeface="Arial"/>
              <a:buChar char="•"/>
            </a:pPr>
            <a:r>
              <a:rPr lang="en-US" sz="3070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Provides centralized control over operations</a:t>
            </a:r>
          </a:p>
          <a:p>
            <a:pPr marL="662951" lvl="1" indent="-331476" algn="l">
              <a:lnSpc>
                <a:spcPts val="4605"/>
              </a:lnSpc>
              <a:buFont typeface="Arial"/>
              <a:buChar char="•"/>
            </a:pPr>
            <a:r>
              <a:rPr lang="en-US" sz="3070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Enhances transparency via audit logs</a:t>
            </a:r>
          </a:p>
          <a:p>
            <a:pPr marL="662951" lvl="1" indent="-331476" algn="l">
              <a:lnSpc>
                <a:spcPts val="4605"/>
              </a:lnSpc>
              <a:buFont typeface="Arial"/>
              <a:buChar char="•"/>
            </a:pPr>
            <a:r>
              <a:rPr lang="en-US" sz="3070" spc="92">
                <a:solidFill>
                  <a:srgbClr val="D9D9D9"/>
                </a:solidFill>
                <a:latin typeface="Sansation"/>
                <a:ea typeface="Sansation"/>
                <a:cs typeface="Sansation"/>
                <a:sym typeface="Sansation"/>
              </a:rPr>
              <a:t>Data-driven growth monitoring</a:t>
            </a:r>
          </a:p>
          <a:p>
            <a:pPr marL="0" lvl="0" indent="0" algn="l">
              <a:lnSpc>
                <a:spcPts val="3670"/>
              </a:lnSpc>
              <a:spcBef>
                <a:spcPct val="0"/>
              </a:spcBef>
            </a:pPr>
            <a:endParaRPr lang="en-US" sz="3070" spc="92">
              <a:solidFill>
                <a:srgbClr val="D9D9D9"/>
              </a:solidFill>
              <a:latin typeface="Sansation"/>
              <a:ea typeface="Sansation"/>
              <a:cs typeface="Sansation"/>
              <a:sym typeface="Sansati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4439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049747" y="1423987"/>
            <a:ext cx="13731801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61"/>
              </a:lnSpc>
              <a:spcBef>
                <a:spcPct val="0"/>
              </a:spcBef>
            </a:pPr>
            <a:r>
              <a:rPr lang="en-US" sz="5801" spc="174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PROJECT TIMELINE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472F7F-B9FE-0B93-59EB-85D28F419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368810"/>
              </p:ext>
            </p:extLst>
          </p:nvPr>
        </p:nvGraphicFramePr>
        <p:xfrm>
          <a:off x="2210047" y="2565743"/>
          <a:ext cx="13411200" cy="6427101"/>
        </p:xfrm>
        <a:graphic>
          <a:graphicData uri="http://schemas.openxmlformats.org/drawingml/2006/table">
            <a:tbl>
              <a:tblPr/>
              <a:tblGrid>
                <a:gridCol w="4470400">
                  <a:extLst>
                    <a:ext uri="{9D8B030D-6E8A-4147-A177-3AD203B41FA5}">
                      <a16:colId xmlns:a16="http://schemas.microsoft.com/office/drawing/2014/main" val="3975633684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961605565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320077606"/>
                    </a:ext>
                  </a:extLst>
                </a:gridCol>
              </a:tblGrid>
              <a:tr h="827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effectLst/>
                        </a:rPr>
                        <a:t>Phase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effectLst/>
                        </a:rPr>
                        <a:t>Duration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362120"/>
                  </a:ext>
                </a:extLst>
              </a:tr>
              <a:tr h="1164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Phase 1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Requirement Gathering &amp; Planning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1 Week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79157"/>
                  </a:ext>
                </a:extLst>
              </a:tr>
              <a:tr h="88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Phase 2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UI/UX Design &amp; Architecture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1 Week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646662"/>
                  </a:ext>
                </a:extLst>
              </a:tr>
              <a:tr h="88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Phase 3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Backend &amp; Database Setup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2 Weeks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41992"/>
                  </a:ext>
                </a:extLst>
              </a:tr>
              <a:tr h="88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Phase 4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Core Module Development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2 Weeks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34015"/>
                  </a:ext>
                </a:extLst>
              </a:tr>
              <a:tr h="88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Phase 5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Integration &amp; Testing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1 Week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360617"/>
                  </a:ext>
                </a:extLst>
              </a:tr>
              <a:tr h="88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Phase 6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Optimization &amp; Deployment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effectLst/>
                        </a:rPr>
                        <a:t>1 Week</a:t>
                      </a:r>
                    </a:p>
                  </a:txBody>
                  <a:tcPr marL="66904" marR="66904" marT="33452" marB="334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627253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99F2651D-5B5F-F2E8-A6BB-224CE9CB5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791" y="2587361"/>
            <a:ext cx="412667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1900" y="80105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1028700" y="-18145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1623060" y="5406494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4607540" y="4109085"/>
            <a:ext cx="5303520" cy="771421"/>
          </a:xfrm>
          <a:custGeom>
            <a:avLst/>
            <a:gdLst/>
            <a:ahLst/>
            <a:cxnLst/>
            <a:rect l="l" t="t" r="r" b="b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530206" y="3295650"/>
            <a:ext cx="11227589" cy="367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0"/>
              </a:lnSpc>
              <a:spcBef>
                <a:spcPct val="0"/>
              </a:spcBef>
            </a:pPr>
            <a:r>
              <a:rPr lang="en-US" sz="12000" spc="359">
                <a:solidFill>
                  <a:srgbClr val="D9D9D9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642989" y="9258300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0329811" y="257279"/>
            <a:ext cx="7315200" cy="771421"/>
          </a:xfrm>
          <a:custGeom>
            <a:avLst/>
            <a:gdLst/>
            <a:ahLst/>
            <a:cxnLst/>
            <a:rect l="l" t="t" r="r" b="b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1"/>
                </a:lnTo>
                <a:lnTo>
                  <a:pt x="7315200" y="771421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544</Words>
  <Application>Microsoft Office PowerPoint</Application>
  <PresentationFormat>Custom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Sansation</vt:lpstr>
      <vt:lpstr>เอฟซี ฟาสท์เทสท์</vt:lpstr>
      <vt:lpstr>HK Modular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Futuristic Tech Project Presentation</dc:title>
  <dc:creator>Ishan Jha</dc:creator>
  <cp:lastModifiedBy>Ishan Jha</cp:lastModifiedBy>
  <cp:revision>2</cp:revision>
  <dcterms:created xsi:type="dcterms:W3CDTF">2006-08-16T00:00:00Z</dcterms:created>
  <dcterms:modified xsi:type="dcterms:W3CDTF">2026-03-17T08:38:11Z</dcterms:modified>
  <dc:identifier>DAHAD0PZjr0</dc:identifier>
</cp:coreProperties>
</file>