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666CC-68C4-433B-89D9-E55797A14CE8}" v="28" dt="2026-03-17T07:28:38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50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286000"/>
            <a:ext cx="4114800" cy="4114800"/>
          </a:xfrm>
          <a:prstGeom prst="ellipse">
            <a:avLst/>
          </a:prstGeom>
          <a:solidFill>
            <a:srgbClr val="FF1744">
              <a:alpha val="12000"/>
            </a:srgbClr>
          </a:solidFill>
          <a:ln w="12700">
            <a:solidFill>
              <a:srgbClr val="FF174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A3AFF">
              <a:alpha val="12000"/>
            </a:srgbClr>
          </a:solidFill>
          <a:ln w="12700">
            <a:solidFill>
              <a:srgbClr val="1A3A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CC1133">
              <a:alpha val="8000"/>
            </a:srgbClr>
          </a:solidFill>
          <a:ln w="12700">
            <a:solidFill>
              <a:srgbClr val="CC1133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228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4A7FFF"/>
                </a:solidFill>
              </a:rPr>
              <a:t>K.R. MANGALAM UNIVERSITY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0B0"/>
                </a:solidFill>
              </a:rPr>
              <a:t>Mini Project  —  Mid Term Evaluation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1298448"/>
            <a:ext cx="8503920" cy="27432"/>
          </a:xfrm>
          <a:prstGeom prst="rect">
            <a:avLst/>
          </a:prstGeom>
          <a:solidFill>
            <a:srgbClr val="FF1744">
              <a:alpha val="60000"/>
            </a:srgbClr>
          </a:solidFill>
          <a:ln w="12700">
            <a:solidFill>
              <a:srgbClr val="FF1744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4173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THRYLOS</a:t>
            </a:r>
            <a:endParaRPr lang="en-US" sz="8800" dirty="0"/>
          </a:p>
        </p:txBody>
      </p:sp>
      <p:sp>
        <p:nvSpPr>
          <p:cNvPr id="12" name="Shape 9"/>
          <p:cNvSpPr/>
          <p:nvPr/>
        </p:nvSpPr>
        <p:spPr>
          <a:xfrm>
            <a:off x="1645920" y="2624328"/>
            <a:ext cx="2194560" cy="4572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  <a:effectLst>
            <a:outerShdw blurRad="228600" dist="50800" dir="8100000" algn="bl" rotWithShape="0">
              <a:srgbClr val="FF1744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624328"/>
            <a:ext cx="2194560" cy="4572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2697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EA0FF"/>
                </a:solidFill>
              </a:rPr>
              <a:t>Employee Management Portal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371600" y="3218688"/>
            <a:ext cx="6400800" cy="457200"/>
          </a:xfrm>
          <a:prstGeom prst="rect">
            <a:avLst/>
          </a:prstGeom>
          <a:solidFill>
            <a:srgbClr val="16163A"/>
          </a:solidFill>
          <a:ln w="12700">
            <a:solidFill>
              <a:srgbClr val="FF1744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371600" y="3218688"/>
            <a:ext cx="50292" cy="45720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08760" y="321868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0D8"/>
                </a:solidFill>
              </a:rPr>
              <a:t>Problem Statement: (</a:t>
            </a:r>
            <a:r>
              <a:rPr lang="en-US" sz="1000" b="1" i="1" dirty="0">
                <a:solidFill>
                  <a:srgbClr val="B8C0D8"/>
                </a:solidFill>
              </a:rPr>
              <a:t>Industry-Based)</a:t>
            </a:r>
            <a:r>
              <a:rPr lang="en-US" sz="1000" i="1" dirty="0">
                <a:solidFill>
                  <a:srgbClr val="B8C0D8"/>
                </a:solidFill>
              </a:rPr>
              <a:t> Employee Management System for Modern Organizations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91840" y="3794760"/>
            <a:ext cx="2560320" cy="38404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91840" y="3794760"/>
            <a:ext cx="1280160" cy="3840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0" y="3794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STAGE 2–3  IN PROGRESS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315968"/>
            <a:ext cx="4023360" cy="7315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00600" y="4315968"/>
            <a:ext cx="4023360" cy="7315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361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0D8"/>
                </a:solidFill>
              </a:rPr>
              <a:t>Ishan Jha- 2401010022 (Team Leader)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411480" y="4581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0D8"/>
                </a:solidFill>
              </a:rPr>
              <a:t>Utsav Ratan  —  2401010046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11480" y="4800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0D8"/>
                </a:solidFill>
              </a:rPr>
              <a:t>Prem Kumar  —  2401010243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92040" y="4361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0D8"/>
                </a:solidFill>
              </a:rPr>
              <a:t>Rashmi Jha  —  2401010166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92040" y="4581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0D8"/>
                </a:solidFill>
              </a:rPr>
              <a:t>Vivek Rai  —  2401010303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92040" y="4800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0D8"/>
                </a:solidFill>
              </a:rPr>
              <a:t>Vicky Jha  —  2401010248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A0FF"/>
                </a:solidFill>
              </a:rPr>
              <a:t>10 Core Modules  —  Full-Stack Employee Management Ecosystem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097280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97280"/>
            <a:ext cx="50292" cy="6400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61872"/>
            <a:ext cx="365760" cy="320040"/>
          </a:xfrm>
          <a:prstGeom prst="rect">
            <a:avLst/>
          </a:prstGeom>
          <a:solidFill>
            <a:srgbClr val="FF1744">
              <a:alpha val="25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1744"/>
                </a:solidFill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1097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Login &amp; Authentication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1865376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65376"/>
            <a:ext cx="50292" cy="64008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029968"/>
            <a:ext cx="365760" cy="320040"/>
          </a:xfrm>
          <a:prstGeom prst="rect">
            <a:avLst/>
          </a:prstGeom>
          <a:solidFill>
            <a:srgbClr val="1A3AFF">
              <a:alpha val="25000"/>
            </a:srgbClr>
          </a:solidFill>
          <a:ln w="12700">
            <a:solidFill>
              <a:srgbClr val="1A3A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29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FF"/>
                </a:solidFill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" y="18653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Overview Stats Dashboard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33472"/>
            <a:ext cx="50292" cy="6400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798064"/>
            <a:ext cx="365760" cy="320040"/>
          </a:xfrm>
          <a:prstGeom prst="rect">
            <a:avLst/>
          </a:prstGeom>
          <a:solidFill>
            <a:srgbClr val="00E676">
              <a:alpha val="25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980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26334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Attendance Tracker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" y="3401568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01568"/>
            <a:ext cx="50292" cy="640080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566160"/>
            <a:ext cx="365760" cy="320040"/>
          </a:xfrm>
          <a:prstGeom prst="rect">
            <a:avLst/>
          </a:prstGeom>
          <a:solidFill>
            <a:srgbClr val="AA44FF">
              <a:alpha val="25000"/>
            </a:srgbClr>
          </a:solidFill>
          <a:ln w="12700">
            <a:solidFill>
              <a:srgbClr val="AA44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66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44FF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" y="34015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Real-Time Team Chat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" y="4169664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69664"/>
            <a:ext cx="50292" cy="640080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334256"/>
            <a:ext cx="365760" cy="320040"/>
          </a:xfrm>
          <a:prstGeom prst="rect">
            <a:avLst/>
          </a:prstGeom>
          <a:solidFill>
            <a:srgbClr val="4A7FFF">
              <a:alpha val="25000"/>
            </a:srgbClr>
          </a:solidFill>
          <a:ln w="12700">
            <a:solidFill>
              <a:srgbClr val="4A7FFF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334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7FFF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6968" y="41696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Analytics Dashboard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09160" y="1097280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097280"/>
            <a:ext cx="50292" cy="640080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1261872"/>
            <a:ext cx="365760" cy="320040"/>
          </a:xfrm>
          <a:prstGeom prst="rect">
            <a:avLst/>
          </a:prstGeom>
          <a:solidFill>
            <a:srgbClr val="FF9100">
              <a:alpha val="25000"/>
            </a:srgbClr>
          </a:solidFill>
          <a:ln w="12700">
            <a:solidFill>
              <a:srgbClr val="FF910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100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76088" y="1097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Payment Gateway &amp; Verification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09160" y="1865376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865376"/>
            <a:ext cx="50292" cy="6400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029968"/>
            <a:ext cx="365760" cy="32004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029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</a:rPr>
              <a:t>07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76088" y="18653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Bulk Upload &amp; Import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709160" y="2633472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2633472"/>
            <a:ext cx="50292" cy="64008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2798064"/>
            <a:ext cx="365760" cy="320040"/>
          </a:xfrm>
          <a:prstGeom prst="rect">
            <a:avLst/>
          </a:prstGeom>
          <a:solidFill>
            <a:srgbClr val="FF4466">
              <a:alpha val="25000"/>
            </a:srgbClr>
          </a:solidFill>
          <a:ln w="12700">
            <a:solidFill>
              <a:srgbClr val="FF4466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27980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466"/>
                </a:solidFill>
              </a:rPr>
              <a:t>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76088" y="26334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Notification Center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709160" y="3401568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401568"/>
            <a:ext cx="50292" cy="640080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566160"/>
            <a:ext cx="365760" cy="320040"/>
          </a:xfrm>
          <a:prstGeom prst="rect">
            <a:avLst/>
          </a:prstGeom>
          <a:solidFill>
            <a:srgbClr val="AA44FF">
              <a:alpha val="25000"/>
            </a:srgbClr>
          </a:solidFill>
          <a:ln w="12700">
            <a:solidFill>
              <a:srgbClr val="AA44FF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566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44FF"/>
                </a:solidFill>
              </a:rPr>
              <a:t>09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76088" y="34015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File &amp; Media Manager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709160" y="4169664"/>
            <a:ext cx="4160520" cy="640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C1C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9160" y="4169664"/>
            <a:ext cx="50292" cy="6400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4334256"/>
            <a:ext cx="365760" cy="320040"/>
          </a:xfrm>
          <a:prstGeom prst="rect">
            <a:avLst/>
          </a:prstGeom>
          <a:solidFill>
            <a:srgbClr val="FF1744">
              <a:alpha val="25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4334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1744"/>
                </a:solidFill>
              </a:rPr>
              <a:t>10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76088" y="41696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Leave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&amp; Authentication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68680"/>
            <a:ext cx="4572000" cy="40233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68680"/>
            <a:ext cx="4572000" cy="777240"/>
          </a:xfrm>
          <a:prstGeom prst="rect">
            <a:avLst/>
          </a:prstGeom>
          <a:solidFill>
            <a:srgbClr val="0A0A1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841248"/>
            <a:ext cx="1371600" cy="1371600"/>
          </a:xfrm>
          <a:prstGeom prst="ellipse">
            <a:avLst/>
          </a:prstGeom>
          <a:solidFill>
            <a:srgbClr val="FF1744">
              <a:alpha val="10000"/>
            </a:srgbClr>
          </a:solidFill>
          <a:ln w="12700">
            <a:solidFill>
              <a:srgbClr val="FF1744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777240"/>
            <a:ext cx="1645920" cy="1645920"/>
          </a:xfrm>
          <a:prstGeom prst="ellipse">
            <a:avLst/>
          </a:prstGeom>
          <a:solidFill>
            <a:srgbClr val="1A3AFF">
              <a:alpha val="10000"/>
            </a:srgbClr>
          </a:solidFill>
          <a:ln w="12700">
            <a:solidFill>
              <a:srgbClr val="1A3A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914400"/>
            <a:ext cx="4389120" cy="594360"/>
          </a:xfrm>
          <a:prstGeom prst="rect">
            <a:avLst/>
          </a:prstGeom>
          <a:noFill/>
          <a:ln/>
          <a:effectLst>
            <a:outerShdw blurRad="228600" dist="50800" dir="8100000" algn="bl" rotWithShape="0">
              <a:srgbClr val="FF1744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800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THRYLOS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2286000" y="1536192"/>
            <a:ext cx="365760" cy="365760"/>
          </a:xfrm>
          <a:prstGeom prst="ellipse">
            <a:avLst/>
          </a:prstGeom>
          <a:solidFill>
            <a:srgbClr val="1A3AFF">
              <a:alpha val="40000"/>
            </a:srgbClr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993392"/>
            <a:ext cx="4206240" cy="960120"/>
          </a:xfrm>
          <a:prstGeom prst="rect">
            <a:avLst/>
          </a:prstGeom>
          <a:solidFill>
            <a:srgbClr val="0D0D22"/>
          </a:solidFill>
          <a:ln w="12700">
            <a:solidFill>
              <a:srgbClr val="2A2A5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084832"/>
            <a:ext cx="347472" cy="347472"/>
          </a:xfrm>
          <a:prstGeom prst="ellipse">
            <a:avLst/>
          </a:prstGeom>
          <a:solidFill>
            <a:srgbClr val="16163A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029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Location access required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2286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Location permission is mandatory for security.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Without it, you can't login.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035808"/>
            <a:ext cx="2103120" cy="384048"/>
          </a:xfrm>
          <a:prstGeom prst="rect">
            <a:avLst/>
          </a:prstGeom>
          <a:solidFill>
            <a:srgbClr val="2255FF"/>
          </a:solidFill>
          <a:ln w="12700">
            <a:solidFill>
              <a:srgbClr val="225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35808"/>
            <a:ext cx="2103120" cy="384048"/>
          </a:xfrm>
          <a:prstGeom prst="rect">
            <a:avLst/>
          </a:prstGeom>
          <a:solidFill>
            <a:srgbClr val="AA22FF"/>
          </a:solidFill>
          <a:ln w="12700">
            <a:solidFill>
              <a:srgbClr val="AA2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358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⟳  Requesting...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0B0"/>
                </a:solidFill>
              </a:rPr>
              <a:t>If location is blocked, enable it in your browser settings then refresh.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3886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Role-Based Login Modes: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142232"/>
            <a:ext cx="1298448" cy="2926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Super Admin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4142232"/>
            <a:ext cx="1298448" cy="2926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20240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4142232"/>
            <a:ext cx="1298448" cy="292608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37560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Employee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4920" y="914400"/>
            <a:ext cx="374904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74920" y="914400"/>
            <a:ext cx="50292" cy="82296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🛡️  Role-Based Access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1298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Super Admin, Admin &amp; Employee with granular permissions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74920" y="1901952"/>
            <a:ext cx="374904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74920" y="1901952"/>
            <a:ext cx="50292" cy="82296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Supabase Auth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30368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Secure JWT sessions, email/password authentication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74920" y="2889504"/>
            <a:ext cx="374904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74920" y="2889504"/>
            <a:ext cx="50292" cy="82296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0368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 Location Gating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30368" y="32735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Mandatory geo-verification for security compliance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74920" y="3877056"/>
            <a:ext cx="374904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74920" y="3877056"/>
            <a:ext cx="50292" cy="822960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0368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OTP Verification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30368" y="4261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Two-factor authentication layer for critical ops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 Stats Dashboard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2011680" cy="1170432"/>
          </a:xfrm>
          <a:prstGeom prst="rect">
            <a:avLst/>
          </a:prstGeom>
          <a:solidFill>
            <a:srgbClr val="10102A"/>
          </a:solidFill>
          <a:ln w="12700">
            <a:solidFill>
              <a:srgbClr val="FF1744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201168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8961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16128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₹14,000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" y="163677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1744"/>
                </a:solidFill>
              </a:rPr>
              <a:t>+12.4%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841248"/>
            <a:ext cx="2011680" cy="1170432"/>
          </a:xfrm>
          <a:prstGeom prst="rect">
            <a:avLst/>
          </a:prstGeom>
          <a:solidFill>
            <a:srgbClr val="10102A"/>
          </a:solidFill>
          <a:ln w="12700">
            <a:solidFill>
              <a:srgbClr val="1A3AFF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841248"/>
            <a:ext cx="201168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8961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Pending Orders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16128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FF"/>
                </a:solidFill>
              </a:rPr>
              <a:t>-3 today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841248"/>
            <a:ext cx="2011680" cy="1170432"/>
          </a:xfrm>
          <a:prstGeom prst="rect">
            <a:avLst/>
          </a:prstGeom>
          <a:solidFill>
            <a:srgbClr val="10102A"/>
          </a:solidFill>
          <a:ln w="12700">
            <a:solidFill>
              <a:srgbClr val="00E676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841248"/>
            <a:ext cx="2011680" cy="502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8961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116128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36592" y="163677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</a:rPr>
              <a:t>+89/week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03136" y="841248"/>
            <a:ext cx="2011680" cy="1170432"/>
          </a:xfrm>
          <a:prstGeom prst="rect">
            <a:avLst/>
          </a:prstGeom>
          <a:solidFill>
            <a:srgbClr val="10102A"/>
          </a:solidFill>
          <a:ln w="12700">
            <a:solidFill>
              <a:srgbClr val="AA44FF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841248"/>
            <a:ext cx="2011680" cy="5029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8961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Monthly Growth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12864" y="116128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18.7%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12864" y="163677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44FF"/>
                </a:solidFill>
              </a:rPr>
              <a:t>vs last mo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148840"/>
            <a:ext cx="5486400" cy="269748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148840"/>
            <a:ext cx="548640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2128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&amp; Orders — Last 6 Months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502920" cy="34290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137660"/>
            <a:ext cx="502920" cy="34290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079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Oct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8640" y="3593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38K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371600" y="3520440"/>
            <a:ext cx="502920" cy="48006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4000500"/>
            <a:ext cx="502920" cy="48006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45079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Nov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371600" y="33192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52K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194560" y="3657600"/>
            <a:ext cx="502920" cy="4114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4069080"/>
            <a:ext cx="502920" cy="41148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45079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Dec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194560" y="3456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45K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017520" y="3364992"/>
            <a:ext cx="502920" cy="557784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0" y="3922776"/>
            <a:ext cx="502920" cy="557784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5079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Jan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17520" y="31638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63K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40480" y="3200400"/>
            <a:ext cx="502920" cy="6400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0" y="3840480"/>
            <a:ext cx="502920" cy="64008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45079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Feb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840480" y="2999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71K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63440" y="2907792"/>
            <a:ext cx="502920" cy="786384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694176"/>
            <a:ext cx="502920" cy="786384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5079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Mar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663440" y="2706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85K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" y="4498848"/>
            <a:ext cx="5212080" cy="0"/>
          </a:xfrm>
          <a:prstGeom prst="line">
            <a:avLst/>
          </a:prstGeom>
          <a:noFill/>
          <a:ln w="6350">
            <a:solidFill>
              <a:srgbClr val="2A2A5A"/>
            </a:solidFill>
            <a:prstDash val="solid"/>
          </a:ln>
        </p:spPr>
      </p:sp>
      <p:sp>
        <p:nvSpPr>
          <p:cNvPr id="76" name="AutoShape 4">
            <a:extLst>
              <a:ext uri="{FF2B5EF4-FFF2-40B4-BE49-F238E27FC236}">
                <a16:creationId xmlns:a16="http://schemas.microsoft.com/office/drawing/2014/main" id="{E2BC6BB2-5944-2BE9-7472-772F2D989D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F8C63C7C-1FA4-C0F1-C1C8-83A7F1C0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7" r="3128"/>
          <a:stretch>
            <a:fillRect/>
          </a:stretch>
        </p:blipFill>
        <p:spPr>
          <a:xfrm>
            <a:off x="6080760" y="2186650"/>
            <a:ext cx="2606039" cy="272153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97748DE-CD03-954A-BB0E-50361E58F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98" y="2229656"/>
            <a:ext cx="5484222" cy="2616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Tracker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201168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00E676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2011680" cy="502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86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676"/>
                </a:solidFill>
              </a:rPr>
              <a:t>05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B0"/>
                </a:solidFill>
              </a:rPr>
              <a:t>Present Today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841248"/>
            <a:ext cx="201168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FF1744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841248"/>
            <a:ext cx="201168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886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1744"/>
                </a:solidFill>
              </a:rPr>
              <a:t>01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450592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B0"/>
                </a:solidFill>
              </a:rPr>
              <a:t>Absent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841248"/>
            <a:ext cx="201168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FF9100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841248"/>
            <a:ext cx="2011680" cy="5029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886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9100"/>
                </a:solidFill>
              </a:rPr>
              <a:t>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26864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B0"/>
                </a:solidFill>
              </a:rPr>
              <a:t>Late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841248"/>
            <a:ext cx="201168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4A7FFF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841248"/>
            <a:ext cx="2011680" cy="50292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886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7FFF"/>
                </a:solidFill>
              </a:rPr>
              <a:t>83%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03136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B0"/>
                </a:solidFill>
              </a:rPr>
              <a:t>Rate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828800"/>
            <a:ext cx="3566160" cy="301752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1828800"/>
            <a:ext cx="356616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March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3816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80160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46504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W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12848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79192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45536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0B0"/>
                </a:solidFill>
              </a:rPr>
              <a:t>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45536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7472" y="2898648"/>
            <a:ext cx="274320" cy="256032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13816" y="2898648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80160" y="2898648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46504" y="2898648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46504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12848" y="2898648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12848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79192" y="2898648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9192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145536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47472" y="3236976"/>
            <a:ext cx="274320" cy="256032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9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13816" y="3236976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280160" y="3236976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0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746504" y="3236976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46504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12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12848" y="3236976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12848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13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679192" y="3236976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79192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14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145536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15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47472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16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13816" y="3575304"/>
            <a:ext cx="274320" cy="2560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17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280160" y="3575304"/>
            <a:ext cx="274320" cy="256032"/>
          </a:xfrm>
          <a:prstGeom prst="ellipse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80160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18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746504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19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212848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20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679192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21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145536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47472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13816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24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280160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25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746504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26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212848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27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679192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28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145536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29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47472" y="4251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30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13816" y="4251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0D8"/>
                </a:solidFill>
              </a:rPr>
              <a:t>31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023360" y="1828800"/>
            <a:ext cx="4800600" cy="301752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023360" y="1828800"/>
            <a:ext cx="480060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06240" y="1892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Today's Attendance Log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023360" y="2249424"/>
            <a:ext cx="480060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33088" y="2249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FFF"/>
                </a:solidFill>
              </a:rPr>
              <a:t>Employee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486400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FFF"/>
                </a:solidFill>
              </a:rPr>
              <a:t>Role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9224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FFF"/>
                </a:solidFill>
              </a:rPr>
              <a:t>Check In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63524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FFF"/>
                </a:solidFill>
              </a:rPr>
              <a:t>Status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023360" y="2560320"/>
            <a:ext cx="4800600" cy="31089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33088" y="25603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Ishan Jha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5486400" y="2560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Team Lead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92240" y="25603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09:02 AM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635240" y="25603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</a:rPr>
              <a:t>Present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023360" y="2898648"/>
            <a:ext cx="4800600" cy="310896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133088" y="2898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Utsav Ratan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486400" y="2898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Developer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492240" y="2898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09:15 AM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635240" y="2898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</a:rPr>
              <a:t>Present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023360" y="3236976"/>
            <a:ext cx="4800600" cy="31089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33088" y="32369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Prem Kumar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486400" y="3236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Developer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492240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10:34 AM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635240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100"/>
                </a:solidFill>
              </a:rPr>
              <a:t>Late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023360" y="3575304"/>
            <a:ext cx="4800600" cy="310896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33088" y="35753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Rashmi Jha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5486400" y="35753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Designer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492240" y="35753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09:05 AM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7635240" y="35753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</a:rPr>
              <a:t>Present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023360" y="3913632"/>
            <a:ext cx="4800600" cy="31089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133088" y="3913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Vivek Rai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5486400" y="39136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Developer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6492240" y="3913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—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635240" y="3913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1744"/>
                </a:solidFill>
              </a:rPr>
              <a:t>Absent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4023360" y="4251960"/>
            <a:ext cx="4800600" cy="310896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33088" y="4251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Vicky Jha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5486400" y="42519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Developer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492240" y="4251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09:20 AM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635240" y="4251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</a:rPr>
              <a:t>Present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Team Chat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5577840" cy="4069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1325880" cy="4069080"/>
          </a:xfrm>
          <a:prstGeom prst="rect">
            <a:avLst/>
          </a:prstGeom>
          <a:solidFill>
            <a:srgbClr val="0A0A1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961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890B0"/>
                </a:solidFill>
              </a:rPr>
              <a:t>CHANNELS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13258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18872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# general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581912"/>
            <a:ext cx="1325880" cy="347472"/>
          </a:xfrm>
          <a:prstGeom prst="rect">
            <a:avLst/>
          </a:prstGeom>
          <a:solidFill>
            <a:srgbClr val="1A3A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581912"/>
            <a:ext cx="50292" cy="34747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581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# dev-team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75104"/>
            <a:ext cx="13258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97510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# design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368296"/>
            <a:ext cx="13258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36829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# alerts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13258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76148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# random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00200" y="841248"/>
            <a:ext cx="4251960" cy="384048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 dev-team  •  6 members online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9240" y="950976"/>
            <a:ext cx="128016" cy="128016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1325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466"/>
                </a:solidFill>
              </a:rPr>
              <a:t>Ishan: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64208" y="1508760"/>
            <a:ext cx="256032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Pushed the attendance module fix 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61104" y="1627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0B0"/>
                </a:solidFill>
              </a:rPr>
              <a:t>10:24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664208" y="18379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466"/>
                </a:solidFill>
              </a:rPr>
              <a:t>Utsav: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64208" y="2020824"/>
            <a:ext cx="256032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2020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Nice! PR is up for review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61104" y="21396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0B0"/>
                </a:solidFill>
              </a:rPr>
              <a:t>10:26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08960" y="2350008"/>
            <a:ext cx="2560320" cy="38404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82112" y="2350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On it, checking now 👀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15000" y="26060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0B0"/>
                </a:solidFill>
              </a:rPr>
              <a:t>10:28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6420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466"/>
                </a:solidFill>
              </a:rPr>
              <a:t>Prem: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64208" y="3044952"/>
            <a:ext cx="256032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3044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Analytics dashboard ready for testing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61104" y="3163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0B0"/>
                </a:solidFill>
              </a:rPr>
              <a:t>10:31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108960" y="3374136"/>
            <a:ext cx="2560320" cy="38404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182112" y="3374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Great work team! Let's merge after QA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15000" y="36301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0B0"/>
                </a:solidFill>
              </a:rPr>
              <a:t>10:33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00200" y="4526280"/>
            <a:ext cx="4160520" cy="347472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91640" y="4526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Type a message...  📎  😊  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914400"/>
            <a:ext cx="278892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914400"/>
            <a:ext cx="50292" cy="82296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97840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Real-Time Messaging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90488" y="12984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Supabase Realtime subscriptions for instant delivery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1901952"/>
            <a:ext cx="278892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35040" y="1901952"/>
            <a:ext cx="50292" cy="82296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19659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📁  File Sharing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0488" y="2286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Share documents, images and media in channels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2889504"/>
            <a:ext cx="278892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35040" y="2889504"/>
            <a:ext cx="50292" cy="822960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29535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 Push Notifications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90488" y="32735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Mention alerts, DMs and keyword triggers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35040" y="3877056"/>
            <a:ext cx="2788920" cy="8229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035040" y="3877056"/>
            <a:ext cx="50292" cy="822960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488" y="39410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 Channel Management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90488" y="426110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Team, project, or dept-organized channels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5760720" cy="26517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576072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96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Trend — Multi-Source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46120"/>
            <a:ext cx="64008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971800"/>
            <a:ext cx="640080" cy="13716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3108960"/>
            <a:ext cx="64008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2670048"/>
            <a:ext cx="64008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468880"/>
            <a:ext cx="64008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176272"/>
            <a:ext cx="64008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874520"/>
            <a:ext cx="64008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691640"/>
            <a:ext cx="502920" cy="0"/>
          </a:xfrm>
          <a:prstGeom prst="line">
            <a:avLst/>
          </a:prstGeom>
          <a:noFill/>
          <a:ln w="27940">
            <a:solidFill>
              <a:srgbClr val="FF1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18211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0432" y="290779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0512" y="304495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2606040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240487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0752" y="2112264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181051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162763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3832" y="139903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Oct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17320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Nov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0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Dec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54680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Jan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23360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Feb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92040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0"/>
                </a:solidFill>
              </a:rPr>
              <a:t>Mar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291840"/>
            <a:ext cx="5394960" cy="0"/>
          </a:xfrm>
          <a:prstGeom prst="line">
            <a:avLst/>
          </a:prstGeom>
          <a:noFill/>
          <a:ln w="6350">
            <a:solidFill>
              <a:srgbClr val="2A2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841248"/>
            <a:ext cx="2606040" cy="26517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841248"/>
            <a:ext cx="260604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896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Mix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1307592"/>
            <a:ext cx="1316736" cy="131673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1490472"/>
            <a:ext cx="950976" cy="950976"/>
          </a:xfrm>
          <a:prstGeom prst="ellipse">
            <a:avLst/>
          </a:prstGeom>
          <a:solidFill>
            <a:srgbClr val="10102A"/>
          </a:solidFill>
          <a:ln w="12700">
            <a:solidFill>
              <a:srgbClr val="1010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176479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₹2.8L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2816352"/>
            <a:ext cx="118872" cy="11887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7980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39% Payments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00800" y="3072384"/>
            <a:ext cx="118872" cy="11887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30540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17% Esports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0" y="3328416"/>
            <a:ext cx="118872" cy="11887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3101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44% Social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703320"/>
            <a:ext cx="2788920" cy="1188720"/>
          </a:xfrm>
          <a:prstGeom prst="rect">
            <a:avLst/>
          </a:prstGeom>
          <a:solidFill>
            <a:srgbClr val="10102A"/>
          </a:solidFill>
          <a:ln w="12700">
            <a:solidFill>
              <a:srgbClr val="00E67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3703320"/>
            <a:ext cx="2788920" cy="502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Employee Performance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676"/>
                </a:solidFill>
              </a:rPr>
              <a:t>84/100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365760" y="4507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Avg team score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0" y="4736592"/>
            <a:ext cx="201168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29968" y="4596315"/>
            <a:ext cx="201168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31136" y="4549556"/>
            <a:ext cx="201168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32304" y="4437334"/>
            <a:ext cx="201168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33472" y="4381223"/>
            <a:ext cx="201168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46120" y="3703320"/>
            <a:ext cx="2788920" cy="1188720"/>
          </a:xfrm>
          <a:prstGeom prst="rect">
            <a:avLst/>
          </a:prstGeom>
          <a:solidFill>
            <a:srgbClr val="10102A"/>
          </a:solidFill>
          <a:ln w="12700">
            <a:solidFill>
              <a:srgbClr val="1A3A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46120" y="3703320"/>
            <a:ext cx="278892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Completion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3375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FF"/>
                </a:solidFill>
              </a:rPr>
              <a:t>91%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3337560" y="4507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Weekly target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00600" y="4736592"/>
            <a:ext cx="201168" cy="0"/>
          </a:xfrm>
          <a:prstGeom prst="line">
            <a:avLst/>
          </a:prstGeom>
          <a:noFill/>
          <a:ln w="19050">
            <a:solidFill>
              <a:srgbClr val="1A3A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01768" y="4657461"/>
            <a:ext cx="201168" cy="0"/>
          </a:xfrm>
          <a:prstGeom prst="line">
            <a:avLst/>
          </a:prstGeom>
          <a:noFill/>
          <a:ln w="19050">
            <a:solidFill>
              <a:srgbClr val="1A3A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02936" y="4578330"/>
            <a:ext cx="201168" cy="0"/>
          </a:xfrm>
          <a:prstGeom prst="line">
            <a:avLst/>
          </a:prstGeom>
          <a:noFill/>
          <a:ln w="19050">
            <a:solidFill>
              <a:srgbClr val="1A3A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04104" y="4467547"/>
            <a:ext cx="201168" cy="0"/>
          </a:xfrm>
          <a:prstGeom prst="line">
            <a:avLst/>
          </a:prstGeom>
          <a:noFill/>
          <a:ln w="19050">
            <a:solidFill>
              <a:srgbClr val="1A3A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05272" y="4372590"/>
            <a:ext cx="201168" cy="0"/>
          </a:xfrm>
          <a:prstGeom prst="line">
            <a:avLst/>
          </a:prstGeom>
          <a:noFill/>
          <a:ln w="19050">
            <a:solidFill>
              <a:srgbClr val="1A3A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17920" y="3703320"/>
            <a:ext cx="2788920" cy="1188720"/>
          </a:xfrm>
          <a:prstGeom prst="rect">
            <a:avLst/>
          </a:prstGeom>
          <a:solidFill>
            <a:srgbClr val="10102A"/>
          </a:solidFill>
          <a:ln w="12700">
            <a:solidFill>
              <a:srgbClr val="4A7F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17920" y="3703320"/>
            <a:ext cx="2788920" cy="50292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 Uptime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3093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7FFF"/>
                </a:solidFill>
              </a:rPr>
              <a:t>99.7%</a:t>
            </a:r>
            <a:endParaRPr lang="en-US" sz="2600" dirty="0"/>
          </a:p>
        </p:txBody>
      </p:sp>
      <p:sp>
        <p:nvSpPr>
          <p:cNvPr id="72" name="Text 70"/>
          <p:cNvSpPr/>
          <p:nvPr/>
        </p:nvSpPr>
        <p:spPr>
          <a:xfrm>
            <a:off x="6309360" y="4507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Last 30 days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72400" y="4736592"/>
            <a:ext cx="201168" cy="0"/>
          </a:xfrm>
          <a:prstGeom prst="line">
            <a:avLst/>
          </a:prstGeom>
          <a:noFill/>
          <a:ln w="19050">
            <a:solidFill>
              <a:srgbClr val="4A7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73568" y="4473945"/>
            <a:ext cx="201168" cy="0"/>
          </a:xfrm>
          <a:prstGeom prst="line">
            <a:avLst/>
          </a:prstGeom>
          <a:noFill/>
          <a:ln w="19050">
            <a:solidFill>
              <a:srgbClr val="4A7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74736" y="4386396"/>
            <a:ext cx="201168" cy="0"/>
          </a:xfrm>
          <a:prstGeom prst="line">
            <a:avLst/>
          </a:prstGeom>
          <a:noFill/>
          <a:ln w="19050">
            <a:solidFill>
              <a:srgbClr val="4A7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75904" y="4386396"/>
            <a:ext cx="201168" cy="0"/>
          </a:xfrm>
          <a:prstGeom prst="line">
            <a:avLst/>
          </a:prstGeom>
          <a:noFill/>
          <a:ln w="19050">
            <a:solidFill>
              <a:srgbClr val="4A7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77072" y="4342622"/>
            <a:ext cx="201168" cy="0"/>
          </a:xfrm>
          <a:prstGeom prst="line">
            <a:avLst/>
          </a:prstGeom>
          <a:noFill/>
          <a:ln w="19050">
            <a:solidFill>
              <a:srgbClr val="4A7F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Gateway &amp; Verification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8549640" cy="13716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0D8"/>
                </a:solidFill>
              </a:rPr>
              <a:t>Payment Verification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170432"/>
            <a:ext cx="1234440" cy="804672"/>
          </a:xfrm>
          <a:prstGeom prst="rect">
            <a:avLst/>
          </a:prstGeom>
          <a:solidFill>
            <a:srgbClr val="16163A"/>
          </a:solidFill>
          <a:ln w="12700">
            <a:solidFill>
              <a:srgbClr val="1A3A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170432"/>
            <a:ext cx="123444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188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481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Payment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Submitted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1572768"/>
            <a:ext cx="429768" cy="0"/>
          </a:xfrm>
          <a:prstGeom prst="line">
            <a:avLst/>
          </a:prstGeom>
          <a:noFill/>
          <a:ln w="15240">
            <a:solidFill>
              <a:srgbClr val="8890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58568" y="1170432"/>
            <a:ext cx="1234440" cy="804672"/>
          </a:xfrm>
          <a:prstGeom prst="rect">
            <a:avLst/>
          </a:prstGeom>
          <a:solidFill>
            <a:srgbClr val="16163A"/>
          </a:solidFill>
          <a:ln w="12700">
            <a:solidFill>
              <a:srgbClr val="4A7FFF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58568" y="1170432"/>
            <a:ext cx="1234440" cy="50292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58568" y="1188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58568" y="1481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Screenshot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Uploaded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93008" y="1572768"/>
            <a:ext cx="429768" cy="0"/>
          </a:xfrm>
          <a:prstGeom prst="line">
            <a:avLst/>
          </a:prstGeom>
          <a:noFill/>
          <a:ln w="15240">
            <a:solidFill>
              <a:srgbClr val="8890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22776" y="1170432"/>
            <a:ext cx="1234440" cy="804672"/>
          </a:xfrm>
          <a:prstGeom prst="rect">
            <a:avLst/>
          </a:prstGeom>
          <a:solidFill>
            <a:srgbClr val="16163A"/>
          </a:solidFill>
          <a:ln w="12700">
            <a:solidFill>
              <a:srgbClr val="FF9100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22776" y="1170432"/>
            <a:ext cx="1234440" cy="5029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1188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👁️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22776" y="1481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Admin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Review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57216" y="1572768"/>
            <a:ext cx="429768" cy="0"/>
          </a:xfrm>
          <a:prstGeom prst="line">
            <a:avLst/>
          </a:prstGeom>
          <a:noFill/>
          <a:ln w="15240">
            <a:solidFill>
              <a:srgbClr val="889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86984" y="1170432"/>
            <a:ext cx="1234440" cy="804672"/>
          </a:xfrm>
          <a:prstGeom prst="rect">
            <a:avLst/>
          </a:prstGeom>
          <a:solidFill>
            <a:srgbClr val="16163A"/>
          </a:solidFill>
          <a:ln w="12700">
            <a:solidFill>
              <a:srgbClr val="00E676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86984" y="1170432"/>
            <a:ext cx="1234440" cy="502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6984" y="1188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✔️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86984" y="1481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Amount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Verified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21424" y="1572768"/>
            <a:ext cx="429768" cy="0"/>
          </a:xfrm>
          <a:prstGeom prst="line">
            <a:avLst/>
          </a:prstGeom>
          <a:noFill/>
          <a:ln w="15240">
            <a:solidFill>
              <a:srgbClr val="8890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51192" y="1170432"/>
            <a:ext cx="1234440" cy="804672"/>
          </a:xfrm>
          <a:prstGeom prst="rect">
            <a:avLst/>
          </a:prstGeom>
          <a:solidFill>
            <a:srgbClr val="16163A"/>
          </a:solidFill>
          <a:ln w="12700">
            <a:solidFill>
              <a:srgbClr val="FF1744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51192" y="1170432"/>
            <a:ext cx="123444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51192" y="1188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51192" y="1481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Status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C0D8"/>
                </a:solidFill>
              </a:rPr>
              <a:t>Updated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2359152"/>
            <a:ext cx="5440680" cy="25146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359152"/>
            <a:ext cx="5440680" cy="5029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Recent Payment Verifications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2761488"/>
            <a:ext cx="544068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761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100"/>
                </a:solidFill>
              </a:rPr>
              <a:t>Customer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737360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100"/>
                </a:solidFill>
              </a:rPr>
              <a:t>Amount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51760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100"/>
                </a:solidFill>
              </a:rPr>
              <a:t>Method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2044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100"/>
                </a:solidFill>
              </a:rPr>
              <a:t>Status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62272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100"/>
                </a:solidFill>
              </a:rPr>
              <a:t>Date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072384"/>
            <a:ext cx="5440680" cy="32004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0723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Arjun Mehta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737360" y="30723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₹4,500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651760" y="30723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UPI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20440" y="30723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Verified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62272" y="30723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Mar 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419856"/>
            <a:ext cx="5440680" cy="32004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4198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Priya Singh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737360" y="34198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₹2,200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651760" y="34198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NEFT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520440" y="3419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100"/>
                </a:solidFill>
              </a:rPr>
              <a:t>Pending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462272" y="3419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Mar 15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3767328"/>
            <a:ext cx="5440680" cy="32004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37673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Rohit Kumar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737360" y="37673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₹7,800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651760" y="37673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UPI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20440" y="3767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Verified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462272" y="3767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Mar 14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114800"/>
            <a:ext cx="5440680" cy="32004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Sneha Joshi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737360" y="4114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₹1,500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651760" y="4114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Card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52044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1744"/>
                </a:solidFill>
              </a:rPr>
              <a:t>Rejected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62272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Mar 14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" y="4462272"/>
            <a:ext cx="5440680" cy="32004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4048" y="4462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Amit Sharma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737360" y="44622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₹9,200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651760" y="44622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NEFT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520440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Verified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62272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Mar 13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897880" y="2395728"/>
            <a:ext cx="2926080" cy="56692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897880" y="2395728"/>
            <a:ext cx="50292" cy="56692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53328" y="2441448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🖼️ Screenshot Proof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053328" y="267004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Upload payment screenshots for verification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897880" y="3054096"/>
            <a:ext cx="2926080" cy="56692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897880" y="3054096"/>
            <a:ext cx="50292" cy="56692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53328" y="3099816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🔍 Multi-Source Sync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6053328" y="3328416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UPI, NEFT, Card — single dashboard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897880" y="3712464"/>
            <a:ext cx="2926080" cy="56692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897880" y="3712464"/>
            <a:ext cx="50292" cy="566928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53328" y="3758184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⚡ Instant Status Update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6053328" y="3986784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Real-time push on approval/rejection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897880" y="4370832"/>
            <a:ext cx="2926080" cy="56692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897880" y="4370832"/>
            <a:ext cx="50292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53328" y="441655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📊 Revenue Tracking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053328" y="4645152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Auto-aggregates verified payments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Upload &amp; Import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5120640" cy="2011680"/>
          </a:xfrm>
          <a:prstGeom prst="rect">
            <a:avLst/>
          </a:prstGeom>
          <a:solidFill>
            <a:srgbClr val="10102A"/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987552"/>
            <a:ext cx="4754880" cy="1234440"/>
          </a:xfrm>
          <a:prstGeom prst="rect">
            <a:avLst/>
          </a:prstGeom>
          <a:solidFill>
            <a:srgbClr val="16163A"/>
          </a:solidFill>
          <a:ln w="12700">
            <a:solidFill>
              <a:srgbClr val="1A3A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Drag &amp; Drop CSV / Excel files 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719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B0"/>
                </a:solidFill>
              </a:rPr>
              <a:t>or click to browse  |  Supports: .csv, .xlsx, .json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1554480" cy="34747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408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⬆ Upload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2340864"/>
            <a:ext cx="1554480" cy="347472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23408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📋 Template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2340864"/>
            <a:ext cx="1554480" cy="347472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3408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📥 Export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5120640" cy="20574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512064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98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0D8"/>
                </a:solidFill>
              </a:rPr>
              <a:t>Import Preview — employees_march.csv  (142 records)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4572000" cy="164592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3474720" cy="1645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46120"/>
            <a:ext cx="1645920" cy="1645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38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0B0"/>
                </a:solidFill>
              </a:rPr>
              <a:t>76% Complete  —  108/142 processed  |  2 errors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4937760" cy="22860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</a:rPr>
              <a:t>Name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173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</a:rPr>
              <a:t>Email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7744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</a:rPr>
              <a:t>Role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</a:rPr>
              <a:t>Dept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976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</a:rPr>
              <a:t>Status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959352"/>
            <a:ext cx="4937760" cy="22860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Ananya Das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1732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ananya@t.in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37744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Admin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756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Tech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9768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</a:rPr>
              <a:t>✅ OK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215384"/>
            <a:ext cx="4937760" cy="2286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Ravi Patel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41732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ravi@t.in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7744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Emp.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3756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HR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9768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</a:rPr>
              <a:t>✅ OK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4471416"/>
            <a:ext cx="4937760" cy="22860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Meera Shah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41732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meera@t.in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37744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Lead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3756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0D8"/>
                </a:solidFill>
              </a:rPr>
              <a:t>Sales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9768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100"/>
                </a:solidFill>
              </a:rPr>
              <a:t>⚠ Dup.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623560" y="91440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623560" y="914400"/>
            <a:ext cx="50292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9008" y="987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CSV &amp; Excel Import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779008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Native .csv/.xlsx with auto column mapping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623560" y="192024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23560" y="1920240"/>
            <a:ext cx="50292" cy="84124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79008" y="1993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Validation Engine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779008" y="23042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Detects duplicates, missing fields, format errors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623560" y="292608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23560" y="2926080"/>
            <a:ext cx="50292" cy="8412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79008" y="2999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Batch Processing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779008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Process 1000+ records with progress tracking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23560" y="393192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623560" y="3931920"/>
            <a:ext cx="50292" cy="8412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79008" y="4005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📥  Export Reports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779008" y="43159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Download filtered data as CSV anytime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 Center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5120640" cy="4069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5120640" cy="420624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412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🔔  Notification Center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932688"/>
            <a:ext cx="292608" cy="237744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326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298448"/>
            <a:ext cx="1188720" cy="27432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 (7)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0" y="1298448"/>
            <a:ext cx="118872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Unread (4)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34640" y="1298448"/>
            <a:ext cx="118872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Alerts (2)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0" y="1298448"/>
            <a:ext cx="118872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System (1)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664208"/>
            <a:ext cx="5120640" cy="475488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" y="1847088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66420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" y="17007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</a:rPr>
              <a:t>Payment Verified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" y="1920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Arjun Mehta's ₹4,500 payment confirmed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18196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B0"/>
                </a:solidFill>
              </a:rPr>
              <a:t>2 min ago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185416"/>
            <a:ext cx="5120640" cy="475488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2368296"/>
            <a:ext cx="91440" cy="91440"/>
          </a:xfrm>
          <a:prstGeom prst="ellipse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18541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🏖️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7824" y="2221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100"/>
                </a:solidFill>
              </a:rPr>
              <a:t>Leave Request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" y="24414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Vivek Rai applied for 2 days leave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0" y="23408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B0"/>
                </a:solidFill>
              </a:rPr>
              <a:t>15 min ago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706624"/>
            <a:ext cx="5120640" cy="475488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" y="2889504"/>
            <a:ext cx="91440" cy="91440"/>
          </a:xfrm>
          <a:prstGeom prst="ellipse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27066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⬆️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77824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FF"/>
                </a:solidFill>
              </a:rPr>
              <a:t>Bulk Import Done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7824" y="29626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108/142 employees imported successfully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0" y="2862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B0"/>
                </a:solidFill>
              </a:rPr>
              <a:t>1 hr ago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227832"/>
            <a:ext cx="5120640" cy="475488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" y="3410712"/>
            <a:ext cx="91440" cy="9144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22783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⚠️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7824" y="3264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1744"/>
                </a:solidFill>
              </a:rPr>
              <a:t>Attendance Alert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7824" y="3483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3 employees not checked in as of 10:30 AM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0" y="33832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B0"/>
                </a:solidFill>
              </a:rPr>
              <a:t>2 hr ago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749040"/>
            <a:ext cx="5120640" cy="47548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37490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💬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77824" y="3785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FFF"/>
                </a:solidFill>
              </a:rPr>
              <a:t>New Chat Message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77824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Ishan Jha mentioned you in #dev-team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114800" y="39044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B0"/>
                </a:solidFill>
              </a:rPr>
              <a:t>3 hr ago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270248"/>
            <a:ext cx="5120640" cy="47548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2702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📁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77824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44FF"/>
                </a:solidFill>
              </a:rPr>
              <a:t>File Uploaded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77824" y="4526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Q1_report.pdf added to Shared Media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14800" y="44256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B0"/>
                </a:solidFill>
              </a:rPr>
              <a:t>5 hr ago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23560" y="91440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23560" y="914400"/>
            <a:ext cx="50292" cy="8412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79008" y="987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Real-Time Push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79008" y="12984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Instant browser &amp; in-app via Supabase channels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623560" y="192024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623560" y="1920240"/>
            <a:ext cx="50292" cy="84124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79008" y="1993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Smart Filtering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779008" y="23042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Filter by type, priority, read/unread, date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623560" y="292608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623560" y="2926080"/>
            <a:ext cx="50292" cy="841248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79008" y="2999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🏷️  Category Tags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779008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Payment, HR, System, Chat — auto-categorized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623560" y="3931920"/>
            <a:ext cx="3200400" cy="841248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23560" y="3931920"/>
            <a:ext cx="50292" cy="841248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79008" y="4005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🔕  Do Not Disturb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779008" y="43159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B0"/>
                </a:solidFill>
              </a:rPr>
              <a:t>Schedule quiet hours with custom preferences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&amp; Media Manager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41248"/>
            <a:ext cx="5486400" cy="406908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5486400" cy="40233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412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0D8"/>
                </a:solidFill>
              </a:rPr>
              <a:t>📁  /Shared Media / Q1-Reports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914400"/>
            <a:ext cx="868680" cy="25603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9144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⬆ Upload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868680" cy="25603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9144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📁 New Folder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35331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353312"/>
            <a:ext cx="1188720" cy="4572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17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" y="2066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Q1_Report.pdf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2.4 MB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664208" y="135331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64208" y="1353312"/>
            <a:ext cx="118872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1517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🖼️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09928" y="2066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team_photo.jpg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709928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1.1 MB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62656" y="135331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62656" y="1353312"/>
            <a:ext cx="118872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62656" y="1517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📊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008376" y="2066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salary_slip.xlsx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08376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340 KB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261104" y="135331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61104" y="1353312"/>
            <a:ext cx="1188720" cy="45720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61104" y="1517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🎬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306824" y="2066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onboarding.mp4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306824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18 MB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286207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862072"/>
            <a:ext cx="1188720" cy="4572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0266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11480" y="3575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design.figma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11480" y="3886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5.2 MB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64208" y="286207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664208" y="2862072"/>
            <a:ext cx="1188720" cy="45720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64208" y="30266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🗜️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709928" y="3575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contracts.zip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709928" y="3886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12 MB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962656" y="286207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962656" y="2862072"/>
            <a:ext cx="1188720" cy="45720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62656" y="30266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📝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3008376" y="3575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meeting_notes.docx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008376" y="3886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220 KB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61104" y="2862072"/>
            <a:ext cx="118872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E1E3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61104" y="2862072"/>
            <a:ext cx="1188720" cy="4572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61104" y="30266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📁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4306824" y="3575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logo_assets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306824" y="3886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0B0"/>
                </a:solidFill>
              </a:rPr>
              <a:t>47 files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943600" y="841248"/>
            <a:ext cx="2880360" cy="18288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43600" y="841248"/>
            <a:ext cx="2880360" cy="5029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896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 Overview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35040" y="1234440"/>
            <a:ext cx="960120" cy="25603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95160" y="1234440"/>
            <a:ext cx="603504" cy="2560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98664" y="1234440"/>
            <a:ext cx="768096" cy="25603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66760" y="1234440"/>
            <a:ext cx="411480" cy="25603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35040" y="1572768"/>
            <a:ext cx="109728" cy="10972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0488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Docs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452360" y="1572768"/>
            <a:ext cx="109728" cy="1097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07808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Images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35040" y="1847088"/>
            <a:ext cx="109728" cy="10972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0488" y="18288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Video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452360" y="1847088"/>
            <a:ext cx="109728" cy="109728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07808" y="18288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Other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035040" y="24231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18.4 GB used of 50 GB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943600" y="2807208"/>
            <a:ext cx="2880360" cy="484632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943600" y="2807208"/>
            <a:ext cx="50292" cy="48463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99048" y="28437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Shareable Links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099048" y="3054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Secure share links with expiry control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943600" y="3383280"/>
            <a:ext cx="2880360" cy="484632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943600" y="3383280"/>
            <a:ext cx="50292" cy="48463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099048" y="3419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Permission Control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099048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Role-based access to folders &amp; files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943600" y="3959352"/>
            <a:ext cx="2880360" cy="484632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943600" y="3959352"/>
            <a:ext cx="50292" cy="48463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99048" y="3995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Full-Text Search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099048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Search by name, tag or file content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943600" y="4535424"/>
            <a:ext cx="2880360" cy="484632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5943600" y="4535424"/>
            <a:ext cx="50292" cy="484632"/>
          </a:xfrm>
          <a:prstGeom prst="rect">
            <a:avLst/>
          </a:prstGeom>
          <a:solidFill>
            <a:srgbClr val="4A7FFF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99048" y="4572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📎 Inline Preview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099048" y="47823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View PDFs, images, videos in-browser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41248"/>
            <a:ext cx="2011680" cy="1078992"/>
          </a:xfrm>
          <a:prstGeom prst="rect">
            <a:avLst/>
          </a:prstGeom>
          <a:solidFill>
            <a:srgbClr val="10102A"/>
          </a:solidFill>
          <a:ln w="12700">
            <a:solidFill>
              <a:srgbClr val="1A3AFF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41248"/>
            <a:ext cx="201168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86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Casual Leave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247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FF"/>
                </a:solidFill>
              </a:rPr>
              <a:t>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9264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0B0"/>
                </a:solidFill>
              </a:rPr>
              <a:t>available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572768"/>
            <a:ext cx="1828800" cy="109728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572768"/>
            <a:ext cx="457200" cy="10972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09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0B0"/>
                </a:solidFill>
              </a:rPr>
              <a:t>3/12 used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32304" y="841248"/>
            <a:ext cx="2011680" cy="1078992"/>
          </a:xfrm>
          <a:prstGeom prst="rect">
            <a:avLst/>
          </a:prstGeom>
          <a:solidFill>
            <a:srgbClr val="10102A"/>
          </a:solidFill>
          <a:ln w="12700">
            <a:solidFill>
              <a:srgbClr val="FF1744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32304" y="841248"/>
            <a:ext cx="201168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886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Sick Leave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23744" y="11247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1744"/>
                </a:solidFill>
              </a:rPr>
              <a:t>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145536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0B0"/>
                </a:solidFill>
              </a:rPr>
              <a:t>available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23744" y="1572768"/>
            <a:ext cx="1828800" cy="109728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3744" y="1572768"/>
            <a:ext cx="228600" cy="10972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1709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0B0"/>
                </a:solidFill>
              </a:rPr>
              <a:t>1/8 used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08576" y="841248"/>
            <a:ext cx="2011680" cy="1078992"/>
          </a:xfrm>
          <a:prstGeom prst="rect">
            <a:avLst/>
          </a:prstGeom>
          <a:solidFill>
            <a:srgbClr val="10102A"/>
          </a:solidFill>
          <a:ln w="12700">
            <a:solidFill>
              <a:srgbClr val="00E676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841248"/>
            <a:ext cx="2011680" cy="502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886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Earned Leave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11247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</a:rPr>
              <a:t>15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321808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0B0"/>
                </a:solidFill>
              </a:rPr>
              <a:t>available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0016" y="1572768"/>
            <a:ext cx="1828800" cy="109728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1572768"/>
            <a:ext cx="457200" cy="1097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1709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0B0"/>
                </a:solidFill>
              </a:rPr>
              <a:t>5/20 used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84848" y="841248"/>
            <a:ext cx="2011680" cy="1078992"/>
          </a:xfrm>
          <a:prstGeom prst="rect">
            <a:avLst/>
          </a:prstGeom>
          <a:solidFill>
            <a:srgbClr val="10102A"/>
          </a:solidFill>
          <a:ln w="12700">
            <a:solidFill>
              <a:srgbClr val="AA44FF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84848" y="841248"/>
            <a:ext cx="2011680" cy="50292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886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Comp-Off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76288" y="11247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44FF"/>
                </a:solidFill>
              </a:rPr>
              <a:t>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498080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0B0"/>
                </a:solidFill>
              </a:rPr>
              <a:t>available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1572768"/>
            <a:ext cx="1828800" cy="109728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76288" y="1572768"/>
            <a:ext cx="0" cy="109728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1709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0B0"/>
                </a:solidFill>
              </a:rPr>
              <a:t>0/4 used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057400"/>
            <a:ext cx="3931920" cy="283464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057400"/>
            <a:ext cx="393192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Apply for Leave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Leave Type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2670048"/>
            <a:ext cx="356616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Casual Leave  ▼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2907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Category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3090672"/>
            <a:ext cx="356616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Full Day  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3328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Start Date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" y="3511296"/>
            <a:ext cx="356616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📅  Mar 20,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749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End Date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931920"/>
            <a:ext cx="356616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📅  Mar 21,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0"/>
                </a:solidFill>
              </a:rPr>
              <a:t>Subject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352544"/>
            <a:ext cx="356616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Personal emergency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590288"/>
            <a:ext cx="777240" cy="34747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34440" y="4590288"/>
            <a:ext cx="777240" cy="347472"/>
          </a:xfrm>
          <a:prstGeom prst="rect">
            <a:avLst/>
          </a:prstGeom>
          <a:solidFill>
            <a:srgbClr val="AA22FF"/>
          </a:solidFill>
          <a:ln w="12700">
            <a:solidFill>
              <a:srgbClr val="AA22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590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Submit Request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89120" y="2057400"/>
            <a:ext cx="4434840" cy="283464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389120" y="2057400"/>
            <a:ext cx="443484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0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Leave Requests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389120" y="2468880"/>
            <a:ext cx="443484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1744"/>
                </a:solidFill>
              </a:rPr>
              <a:t>Employee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687568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1744"/>
                </a:solidFill>
              </a:rPr>
              <a:t>Type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565392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1744"/>
                </a:solidFill>
              </a:rPr>
              <a:t>Dates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882128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1744"/>
                </a:solidFill>
              </a:rPr>
              <a:t>Status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89120" y="2779776"/>
            <a:ext cx="4434840" cy="31089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98848" y="27797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Vivek Rai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687568" y="27797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Casual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565392" y="27797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Mar 20-21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882128" y="2779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100"/>
                </a:solidFill>
              </a:rPr>
              <a:t>Pending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389120" y="3118104"/>
            <a:ext cx="4434840" cy="310896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98848" y="31181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Prem Kumar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687568" y="31181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Sick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565392" y="31181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Mar 18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882128" y="31181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Approved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389120" y="3456432"/>
            <a:ext cx="4434840" cy="31089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98848" y="34564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Rashmi Jha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687568" y="34564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Earned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565392" y="34564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Mar 25-27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8821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Approved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389120" y="3794760"/>
            <a:ext cx="4434840" cy="310896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37947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Utsav Ratan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687568" y="3794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Comp-Off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565392" y="37947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Apr 1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882128" y="3794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100"/>
                </a:solidFill>
              </a:rPr>
              <a:t>Pending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389120" y="4133088"/>
            <a:ext cx="4434840" cy="310896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413308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Vicky Jha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687568" y="4133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Casual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565392" y="41330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Mar 14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882128" y="4133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1744"/>
                </a:solidFill>
              </a:rPr>
              <a:t>Rejected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389120" y="4471416"/>
            <a:ext cx="4434840" cy="310896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98848" y="44714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Ishan Jha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687568" y="44714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0"/>
                </a:solidFill>
              </a:rPr>
              <a:t>Earned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565392" y="44714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</a:rPr>
              <a:t>Apr 10-12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882128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100"/>
                </a:solidFill>
              </a:rPr>
              <a:t>Pending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4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 &amp; Project Progress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04672"/>
            <a:ext cx="4160520" cy="27432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04672"/>
            <a:ext cx="4160520" cy="50292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FFF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397764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234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7FFF"/>
                </a:solidFill>
              </a:rPr>
              <a:t>Frontend: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54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React + TypeScript + Tailwind CSS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1545336"/>
            <a:ext cx="3977640" cy="27432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5453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1744"/>
                </a:solidFill>
              </a:rPr>
              <a:t>Backend: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54480" y="15453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Supabase (PostgreSQL + Auth + Storage)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856232"/>
            <a:ext cx="397764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856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676"/>
                </a:solidFill>
              </a:rPr>
              <a:t>State Mgmt: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5448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React Context API + React Query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167128"/>
            <a:ext cx="3977640" cy="27432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167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44FF"/>
                </a:solidFill>
              </a:rPr>
              <a:t>UI Library: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5448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shadcn/ui + Radix UI + Lucide Icons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478024"/>
            <a:ext cx="397764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478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100"/>
                </a:solidFill>
              </a:rPr>
              <a:t>Charts: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54480" y="2478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Recharts + Custom Chart.js components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788920"/>
            <a:ext cx="3977640" cy="27432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788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FF"/>
                </a:solidFill>
              </a:rPr>
              <a:t>Real-Time: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5448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Supabase Realtime Subscriptions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99816"/>
            <a:ext cx="3977640" cy="274320"/>
          </a:xfrm>
          <a:prstGeom prst="rect">
            <a:avLst/>
          </a:prstGeom>
          <a:solidFill>
            <a:srgbClr val="1616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099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0D8"/>
                </a:solidFill>
              </a:rPr>
              <a:t>Build Tool: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54480" y="3099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Vite + ESLint + TypeScript Compiler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804672"/>
            <a:ext cx="4160520" cy="274320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804672"/>
            <a:ext cx="4160520" cy="5029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466"/>
                </a:solidFill>
              </a:rPr>
              <a:t>Project Stage Tracker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1261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Stage 1 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Core Architecture &amp; Auth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1664208"/>
            <a:ext cx="3794760" cy="128016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1664208"/>
            <a:ext cx="3794760" cy="12801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13648" y="16459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</a:rPr>
              <a:t>100%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0600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1744"/>
                </a:solidFill>
              </a:rPr>
              <a:t>Stage 2 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2011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Feature Modules Development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2231136"/>
            <a:ext cx="3794760" cy="128016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231136"/>
            <a:ext cx="1290218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0818" y="2231136"/>
            <a:ext cx="1290218" cy="128016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22128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1744"/>
                </a:solidFill>
              </a:rPr>
              <a:t>68%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2395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1744"/>
                </a:solidFill>
              </a:rPr>
              <a:t>Stage 3 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2578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Integration &amp; Testing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00600" y="2798064"/>
            <a:ext cx="3794760" cy="128016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2798064"/>
            <a:ext cx="474345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74945" y="2798064"/>
            <a:ext cx="474345" cy="128016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27797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FF"/>
                </a:solidFill>
              </a:rPr>
              <a:t>25%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00600" y="29626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0B0"/>
                </a:solidFill>
              </a:rPr>
              <a:t>Stage 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31455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</a:rPr>
              <a:t>Deployment &amp; Documentation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00600" y="3364992"/>
            <a:ext cx="3794760" cy="128016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13648" y="33467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0B0"/>
                </a:solidFill>
              </a:rPr>
              <a:t>0%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4320" y="3703320"/>
            <a:ext cx="8549640" cy="1280160"/>
          </a:xfrm>
          <a:prstGeom prst="rect">
            <a:avLst/>
          </a:prstGeom>
          <a:solidFill>
            <a:srgbClr val="10102A"/>
          </a:solidFill>
          <a:ln w="12700">
            <a:solidFill>
              <a:srgbClr val="1A1A3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Completion Status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Auth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713232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" y="4270248"/>
            <a:ext cx="228600" cy="6400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E676"/>
                </a:solidFill>
              </a:rPr>
              <a:t>100%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298448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Overview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554480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54480" y="4334256"/>
            <a:ext cx="228600" cy="5760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98448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E676"/>
                </a:solidFill>
              </a:rPr>
              <a:t>90%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139696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Attend.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395728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95728" y="4366260"/>
            <a:ext cx="228600" cy="5440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39696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E676"/>
                </a:solidFill>
              </a:rPr>
              <a:t>85%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980944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Chat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236976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36976" y="4430268"/>
            <a:ext cx="228600" cy="480060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80944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3AFF"/>
                </a:solidFill>
              </a:rPr>
              <a:t>75%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822192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Analytics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078224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78224" y="4462272"/>
            <a:ext cx="228600" cy="448056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22192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3AFF"/>
                </a:solidFill>
              </a:rPr>
              <a:t>70%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663440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Payments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919472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19472" y="4494276"/>
            <a:ext cx="228600" cy="4160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63440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1744"/>
                </a:solidFill>
              </a:rPr>
              <a:t>65%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504688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Import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5760720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60720" y="4526280"/>
            <a:ext cx="228600" cy="3840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04688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1744"/>
                </a:solidFill>
              </a:rPr>
              <a:t>60%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6345936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Notifs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6601968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01968" y="4558284"/>
            <a:ext cx="228600" cy="35204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45936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9100"/>
                </a:solidFill>
              </a:rPr>
              <a:t>55%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7187184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Files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7443216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43216" y="4590288"/>
            <a:ext cx="228600" cy="320040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87184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9100"/>
                </a:solidFill>
              </a:rPr>
              <a:t>50%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8028432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0B0"/>
                </a:solidFill>
              </a:rPr>
              <a:t>Leave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8284464" y="4270248"/>
            <a:ext cx="228600" cy="640080"/>
          </a:xfrm>
          <a:prstGeom prst="rect">
            <a:avLst/>
          </a:prstGeom>
          <a:solidFill>
            <a:srgbClr val="16163A"/>
          </a:solidFill>
          <a:ln w="12700">
            <a:solidFill>
              <a:srgbClr val="8890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84464" y="4398264"/>
            <a:ext cx="228600" cy="5120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28432" y="4937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E676"/>
                </a:solidFill>
              </a:rPr>
              <a:t>80%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A47E326-7519-889B-E56B-97D4A8A7D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734" y="-128016"/>
            <a:ext cx="1970532" cy="197053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1371600"/>
            <a:ext cx="5029200" cy="5029200"/>
          </a:xfrm>
          <a:prstGeom prst="ellipse">
            <a:avLst/>
          </a:prstGeom>
          <a:solidFill>
            <a:srgbClr val="FF1744">
              <a:alpha val="12000"/>
            </a:srgbClr>
          </a:solidFill>
          <a:ln w="12700">
            <a:solidFill>
              <a:srgbClr val="FF174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3AFF">
              <a:alpha val="12000"/>
            </a:srgbClr>
          </a:solidFill>
          <a:ln w="12700">
            <a:solidFill>
              <a:srgbClr val="1A3AFF">
                <a:alpha val="1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kern="0" spc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600" dirty="0"/>
          </a:p>
        </p:txBody>
      </p:sp>
      <p:sp>
        <p:nvSpPr>
          <p:cNvPr id="8" name="Shape 5"/>
          <p:cNvSpPr/>
          <p:nvPr/>
        </p:nvSpPr>
        <p:spPr>
          <a:xfrm>
            <a:off x="1371600" y="2487168"/>
            <a:ext cx="2743200" cy="54864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2487168"/>
            <a:ext cx="2743200" cy="54864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6060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4466"/>
                </a:solidFill>
              </a:rPr>
              <a:t>Thrylos Employee Management Portal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286000" y="3108960"/>
            <a:ext cx="4572000" cy="27432"/>
          </a:xfrm>
          <a:prstGeom prst="rect">
            <a:avLst/>
          </a:prstGeom>
          <a:solidFill>
            <a:srgbClr val="2A2A5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0B0"/>
                </a:solidFill>
              </a:rPr>
              <a:t>K.R. Mangalam University  |  Mini Project Mid Term Evaluation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" y="3611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B8C0D8"/>
                </a:solidFill>
              </a:rPr>
              <a:t>Ishan Jha — 2401010022 (Team Leader)</a:t>
            </a:r>
          </a:p>
        </p:txBody>
      </p:sp>
      <p:sp>
        <p:nvSpPr>
          <p:cNvPr id="14" name="Text 11"/>
          <p:cNvSpPr/>
          <p:nvPr/>
        </p:nvSpPr>
        <p:spPr>
          <a:xfrm>
            <a:off x="365760" y="39136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0D8"/>
                </a:solidFill>
              </a:rPr>
              <a:t>Utsav Ratan — 2401010046   |   Prem Kumar — 2401010243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187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0D8"/>
                </a:solidFill>
              </a:rPr>
              <a:t>Rashmi Jha — 2401010166   |   Vivek Rai — 2401010303   |   Vicky Jha — 2401010248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926080" y="4553712"/>
            <a:ext cx="1645920" cy="420624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4553712"/>
            <a:ext cx="1645920" cy="420624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0" y="45537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Stage 2-3  In Progress  🚀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5079492"/>
            <a:ext cx="4572000" cy="64008"/>
          </a:xfrm>
          <a:prstGeom prst="rect">
            <a:avLst/>
          </a:prstGeom>
          <a:solidFill>
            <a:srgbClr val="1A3AFF"/>
          </a:solidFill>
          <a:ln w="12700">
            <a:solidFill>
              <a:srgbClr val="1A3A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0" y="5079492"/>
            <a:ext cx="4572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1335</Words>
  <Application>Microsoft Office PowerPoint</Application>
  <PresentationFormat>On-screen Show (16:9)</PresentationFormat>
  <Paragraphs>529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Thrylos Employee Management Portal</dc:title>
  <dc:subject>PptxGenJS Presentation</dc:subject>
  <dc:creator>PptxGenJS</dc:creator>
  <cp:lastModifiedBy>Ishan Jha</cp:lastModifiedBy>
  <cp:revision>3</cp:revision>
  <dcterms:created xsi:type="dcterms:W3CDTF">2026-03-17T07:04:44Z</dcterms:created>
  <dcterms:modified xsi:type="dcterms:W3CDTF">2026-03-17T08:01:10Z</dcterms:modified>
</cp:coreProperties>
</file>